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Lst>
  <p:sldSz cy="5143500" cx="9144000"/>
  <p:notesSz cx="6858000" cy="9144000"/>
  <p:embeddedFontLst>
    <p:embeddedFont>
      <p:font typeface="Average"/>
      <p:regular r:id="rId177"/>
    </p:embeddedFont>
    <p:embeddedFont>
      <p:font typeface="Oswald"/>
      <p:regular r:id="rId178"/>
      <p:bold r:id="rId1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EEECDD-5DF3-4D59-B88E-AD3A7D9961CA}">
  <a:tblStyle styleId="{1DEEECDD-5DF3-4D59-B88E-AD3A7D9961C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font" Target="fonts/Oswald-bold.fntdata"/><Relationship Id="rId178" Type="http://schemas.openxmlformats.org/officeDocument/2006/relationships/font" Target="fonts/Oswald-regular.fntdata"/><Relationship Id="rId177" Type="http://schemas.openxmlformats.org/officeDocument/2006/relationships/font" Target="fonts/Average-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7b2c25431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7b2c25431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b2c25431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b2c25431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b2c25431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b2c25431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b2c25431b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b2c25431b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b2c25431b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7b2c25431b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b2c25431b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7b2c25431b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b2c25431b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b2c25431b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b2c25431b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b2c25431b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b2c25431b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7b2c25431b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b2c25431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7b2c25431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b2c25431b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7b2c25431b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b2c25431b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7b2c25431b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b2c25431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b2c25431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b2c25431b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7b2c25431b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b2c25431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7b2c25431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b2c25431b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7b2c25431b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b2c25431b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b2c25431b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b2c25431b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7b2c25431b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b2c25431b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7b2c25431b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b2c25431b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7b2c25431b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b2c25431b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7b2c25431b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b2c25431b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7b2c25431b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7b2c25431b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7b2c25431b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b2c25431b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7b2c25431b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b2c25431b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7b2c25431b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b2c25431b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7b2c25431b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b2c25431b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b2c25431b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7b2c25431b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7b2c25431b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7b2c25431b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7b2c25431b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7b2c25431b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7b2c25431b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7b2c25431b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7b2c25431b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b2c25431b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7b2c25431b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7b2c25431b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7b2c25431b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b2c25431b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7b2c25431b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b2c25431b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7b2c25431b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b2c25431b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b2c25431b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b2c25431b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7b2c25431b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b2c25431b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7b2c25431b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7b2c25431b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7b2c25431b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b2c25431b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7b2c25431b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b2c25431b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7b2c25431b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7b2c25431b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7b2c25431b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b2c25431b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b2c25431b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b2c25431b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b2c25431b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7b2c25431b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7b2c25431b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7b2c25431b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7b2c25431b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7b2c25431b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7b2c25431b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7b2c25431b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7b2c25431b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7b2c25431b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7b2c25431b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b2c25431b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7b2c25431b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7b2c25431b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7b2c25431b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7ff0d76e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77ff0d76e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77ff0d76e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77ff0d76e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77ff0d76e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77ff0d76e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77ff0d76e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77ff0d76e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7b2c25431b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7b2c25431b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7b2c25431b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7b2c25431b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7b2c25431b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7b2c25431b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7b2c25431b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7b2c25431b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7b2c25431b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7b2c25431b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7b2c25431b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7b2c25431b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7b2c25431b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7b2c25431b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7b2c25431b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7b2c25431b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7b2c25431b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7b2c25431b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7b2c25431b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7b2c25431b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7b2c25431b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7b2c25431b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7b2c25431b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7b2c25431b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7b2c25431b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7b2c25431b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7b2c25431b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7b2c25431b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7b2c25431b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7b2c25431b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7b2c25431b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7b2c25431b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7b2c25431b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7b2c25431b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7b2c25431b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7b2c25431b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7b2c25431b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7b2c25431b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7b2c25431b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7b2c25431b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7b2c25431b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7b2c25431b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7b2c25431b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7b2c25431b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7b2c25431b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7b2c25431b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7b2c25431b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7b2c25431b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7b2c25431b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7b2c25431b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7b2c25431b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7b2c25431b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7b2c25431b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7b2c25431b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7b2c25431b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7b2c25431b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7b2c25431b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7b2c25431b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7b2c25431b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7b2c25431b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7b2c25431b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7b2c25431b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7b2c25431b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7b2c25431b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7b2c25431b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7b2c25431b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7b2c25431b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7b2c25431b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7b2c25431b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7b2c25431b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7b2c25431b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7b2c25431b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7b2c25431b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7b2c25431b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7b2c25431b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7b2c25431b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764d8a101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764d8a101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764d8a101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764d8a101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764d8a10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764d8a10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764d8a101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764d8a101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764d8a101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764d8a101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764d8a101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764d8a101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764d8a101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764d8a101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764d8a101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764d8a101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764d8a101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764d8a101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764d8a101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764d8a101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764d8a101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764d8a101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764d8a101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764d8a101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764d8a101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764d8a101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764d8a101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764d8a101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764d8a101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764d8a101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764d8a101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764d8a101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764d8a101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764d8a101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764d8a101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764d8a101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764d8a1011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764d8a1011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764d8a101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764d8a101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764d8a101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764d8a101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764d8a1011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764d8a1011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764d8a1011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764d8a101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77badae5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77badae5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77badae52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77badae52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77badae52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77badae52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77badae52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77badae52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77badae52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77badae52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77badae52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77badae52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77badae52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77badae52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77ff0d76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77ff0d76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77ff0d76e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77ff0d76e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77ff0d76e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377ff0d76e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77badae52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77badae52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77badae52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77badae52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77badae52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77badae52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77badae52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77badae52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77ff0d76e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77ff0d76e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77ff0d76e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77ff0d76e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764d8a1011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764d8a1011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764d8a101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764d8a101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764d8a101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3764d8a101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764d8a1011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764d8a1011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764d8a1011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764d8a1011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764d8a1011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3764d8a1011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764d8a101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764d8a101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764d8a1011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764d8a1011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764d8a1011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764d8a1011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764d8a1011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764d8a1011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764d8a1011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764d8a1011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77badae52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77badae52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77badae52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377badae52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77badae52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77badae52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77badae52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77badae52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77badae52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77badae52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77badae52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77badae52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77badae520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77badae52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764d8a101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3764d8a101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77badae52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377badae52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77badae52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77badae52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77badae52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377badae52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77badae52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377badae52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77badae520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77badae520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77badae52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77badae52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77badae52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77badae52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77badae520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77badae520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77badae520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377badae520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77badae52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77badae52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77badae52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77badae52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764d8a1011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3764d8a1011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77badae520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77badae520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764d8a1011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764d8a1011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77badae52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377badae52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764d8a101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3764d8a101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77badae52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77badae52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77badae520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77badae520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73763"/>
        </a:solidFill>
      </p:bgPr>
    </p:bg>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73763"/>
        </a:solidFill>
      </p:bgPr>
    </p:bg>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hyperlink" Target="http://www.programmerzamannow.com" TargetMode="External"/><Relationship Id="rId5" Type="http://schemas.openxmlformats.org/officeDocument/2006/relationships/hyperlink" Target="http://youtube.com/c/ProgrammerZamanNow"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 Id="rId5" Type="http://schemas.openxmlformats.org/officeDocument/2006/relationships/hyperlink" Target="https://facebook.com/ProgrammerZamanNow" TargetMode="External"/><Relationship Id="rId6" Type="http://schemas.openxmlformats.org/officeDocument/2006/relationships/hyperlink" Target="https://www.instagram.com/programmerzamannow" TargetMode="External"/><Relationship Id="rId7" Type="http://schemas.openxmlformats.org/officeDocument/2006/relationships/hyperlink" Target="https://www.youtube.com/c/ProgrammerZamanNow" TargetMode="External"/><Relationship Id="rId8"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python.or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python.org/downloads/"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code.visualstudio.com/" TargetMode="External"/><Relationship Id="rId4" Type="http://schemas.openxmlformats.org/officeDocument/2006/relationships/hyperlink" Target="https://www.jetbrains.com/pychar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4.png"/><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8.png"/><Relationship Id="rId4"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3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3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4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4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4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3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3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4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4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5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3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5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4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51.png"/><Relationship Id="rId4" Type="http://schemas.openxmlformats.org/officeDocument/2006/relationships/image" Target="../media/image5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5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46.png"/><Relationship Id="rId4" Type="http://schemas.openxmlformats.org/officeDocument/2006/relationships/image" Target="../media/image4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4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5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6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5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5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6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6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5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5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6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6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4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7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69.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6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6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67.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73.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68.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7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75.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 Id="rId3" Type="http://schemas.openxmlformats.org/officeDocument/2006/relationships/image" Target="../media/image7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76.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70.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 Id="rId3" Type="http://schemas.openxmlformats.org/officeDocument/2006/relationships/image" Target="../media/image77.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d"/>
              <a:t>Python Dasar</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p:cNvPicPr preferRelativeResize="0"/>
          <p:nvPr/>
        </p:nvPicPr>
        <p:blipFill rotWithShape="1">
          <a:blip r:embed="rId3">
            <a:alphaModFix/>
          </a:blip>
          <a:srcRect b="0" l="0" r="0" t="14075"/>
          <a:stretch/>
        </p:blipFill>
        <p:spPr>
          <a:xfrm>
            <a:off x="1800" y="-101050"/>
            <a:ext cx="9144003" cy="5244550"/>
          </a:xfrm>
          <a:prstGeom prst="rect">
            <a:avLst/>
          </a:prstGeom>
          <a:noFill/>
          <a:ln>
            <a:noFill/>
          </a:ln>
        </p:spPr>
      </p:pic>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67" name="Google Shape;67;p14"/>
          <p:cNvSpPr txBox="1"/>
          <p:nvPr>
            <p:ph idx="1" type="body"/>
          </p:nvPr>
        </p:nvSpPr>
        <p:spPr>
          <a:xfrm>
            <a:off x="311700" y="1152475"/>
            <a:ext cx="4933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id">
                <a:solidFill>
                  <a:schemeClr val="dk1"/>
                </a:solidFill>
              </a:rPr>
              <a:t>Technical architect at one of the biggest ecommerce company in Indonesia</a:t>
            </a:r>
            <a:endParaRPr>
              <a:solidFill>
                <a:schemeClr val="dk1"/>
              </a:solidFill>
            </a:endParaRPr>
          </a:p>
          <a:p>
            <a:pPr indent="-342900" lvl="0" marL="457200" rtl="0" algn="l">
              <a:spcBef>
                <a:spcPts val="0"/>
              </a:spcBef>
              <a:spcAft>
                <a:spcPts val="0"/>
              </a:spcAft>
              <a:buClr>
                <a:schemeClr val="dk1"/>
              </a:buClr>
              <a:buSzPts val="1800"/>
              <a:buChar char="●"/>
            </a:pPr>
            <a:r>
              <a:rPr lang="id">
                <a:solidFill>
                  <a:schemeClr val="dk1"/>
                </a:solidFill>
              </a:rPr>
              <a:t>15+ years experiences</a:t>
            </a:r>
            <a:endParaRPr>
              <a:solidFill>
                <a:schemeClr val="dk1"/>
              </a:solidFill>
            </a:endParaRPr>
          </a:p>
          <a:p>
            <a:pPr indent="-342900" lvl="0" marL="457200" rtl="0" algn="l">
              <a:spcBef>
                <a:spcPts val="0"/>
              </a:spcBef>
              <a:spcAft>
                <a:spcPts val="0"/>
              </a:spcAft>
              <a:buClr>
                <a:schemeClr val="dk1"/>
              </a:buClr>
              <a:buSzPts val="1800"/>
              <a:buChar char="●"/>
            </a:pPr>
            <a:r>
              <a:rPr lang="id" u="sng">
                <a:solidFill>
                  <a:schemeClr val="hlink"/>
                </a:solidFill>
                <a:hlinkClick r:id="rId4"/>
              </a:rPr>
              <a:t>www.programmerzamannow.com</a:t>
            </a:r>
            <a:r>
              <a:rPr lang="id">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id" u="sng">
                <a:solidFill>
                  <a:schemeClr val="hlink"/>
                </a:solidFill>
                <a:hlinkClick r:id="rId5"/>
              </a:rPr>
              <a:t>youtube.com/c/ProgrammerZamanNow</a:t>
            </a:r>
            <a:r>
              <a:rPr lang="id">
                <a:solidFill>
                  <a:schemeClr val="dk1"/>
                </a:solidFill>
              </a:rPr>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Eko Kurniawan Khannedy</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Telegram : </a:t>
            </a:r>
            <a:r>
              <a:rPr lang="id" u="sng">
                <a:solidFill>
                  <a:schemeClr val="hlink"/>
                </a:solidFill>
                <a:hlinkClick r:id="rId3"/>
              </a:rPr>
              <a:t>@khannedy</a:t>
            </a:r>
            <a:endParaRPr/>
          </a:p>
          <a:p>
            <a:pPr indent="-342900" lvl="0" marL="457200" rtl="0" algn="l">
              <a:spcBef>
                <a:spcPts val="0"/>
              </a:spcBef>
              <a:spcAft>
                <a:spcPts val="0"/>
              </a:spcAft>
              <a:buSzPts val="1800"/>
              <a:buChar char="●"/>
            </a:pPr>
            <a:r>
              <a:rPr lang="id"/>
              <a:t>Linkedin : </a:t>
            </a:r>
            <a:r>
              <a:rPr lang="id" u="sng">
                <a:solidFill>
                  <a:schemeClr val="hlink"/>
                </a:solidFill>
                <a:hlinkClick r:id="rId4"/>
              </a:rPr>
              <a:t>https://www.linkedin.com/company/programmer-zaman-now/</a:t>
            </a:r>
            <a:r>
              <a:rPr lang="id"/>
              <a:t> </a:t>
            </a:r>
            <a:endParaRPr/>
          </a:p>
          <a:p>
            <a:pPr indent="-342900" lvl="0" marL="457200" rtl="0" algn="l">
              <a:spcBef>
                <a:spcPts val="0"/>
              </a:spcBef>
              <a:spcAft>
                <a:spcPts val="0"/>
              </a:spcAft>
              <a:buSzPts val="1800"/>
              <a:buChar char="●"/>
            </a:pPr>
            <a:r>
              <a:rPr lang="id"/>
              <a:t>Facebook : </a:t>
            </a:r>
            <a:r>
              <a:rPr lang="id" u="sng">
                <a:solidFill>
                  <a:schemeClr val="hlink"/>
                </a:solidFill>
                <a:hlinkClick r:id="rId5"/>
              </a:rPr>
              <a:t>fb.com/ProgrammerZamanNow</a:t>
            </a:r>
            <a:endParaRPr/>
          </a:p>
          <a:p>
            <a:pPr indent="-342900" lvl="0" marL="457200" rtl="0" algn="l">
              <a:spcBef>
                <a:spcPts val="0"/>
              </a:spcBef>
              <a:spcAft>
                <a:spcPts val="0"/>
              </a:spcAft>
              <a:buSzPts val="1800"/>
              <a:buChar char="●"/>
            </a:pPr>
            <a:r>
              <a:rPr lang="id"/>
              <a:t>Instagram : </a:t>
            </a:r>
            <a:r>
              <a:rPr lang="id" u="sng">
                <a:solidFill>
                  <a:schemeClr val="hlink"/>
                </a:solidFill>
                <a:hlinkClick r:id="rId6"/>
              </a:rPr>
              <a:t>instagram.com/programmerzamannow</a:t>
            </a:r>
            <a:endParaRPr/>
          </a:p>
          <a:p>
            <a:pPr indent="-342900" lvl="0" marL="457200" rtl="0" algn="l">
              <a:spcBef>
                <a:spcPts val="0"/>
              </a:spcBef>
              <a:spcAft>
                <a:spcPts val="0"/>
              </a:spcAft>
              <a:buSzPts val="1800"/>
              <a:buChar char="●"/>
            </a:pPr>
            <a:r>
              <a:rPr lang="id"/>
              <a:t>Youtube : </a:t>
            </a:r>
            <a:r>
              <a:rPr lang="id" u="sng">
                <a:solidFill>
                  <a:schemeClr val="hlink"/>
                </a:solidFill>
                <a:hlinkClick r:id="rId7"/>
              </a:rPr>
              <a:t>youtube.com/c/ProgrammerZamanNow</a:t>
            </a:r>
            <a:endParaRPr/>
          </a:p>
          <a:p>
            <a:pPr indent="-342900" lvl="0" marL="457200" rtl="0" algn="l">
              <a:spcBef>
                <a:spcPts val="0"/>
              </a:spcBef>
              <a:spcAft>
                <a:spcPts val="0"/>
              </a:spcAft>
              <a:buSzPts val="1800"/>
              <a:buChar char="●"/>
            </a:pPr>
            <a:r>
              <a:rPr lang="id"/>
              <a:t>Telegram Channel : </a:t>
            </a:r>
            <a:r>
              <a:rPr lang="id" u="sng">
                <a:solidFill>
                  <a:schemeClr val="hlink"/>
                </a:solidFill>
                <a:hlinkClick r:id="rId8"/>
              </a:rPr>
              <a:t>t.me/ProgrammerZamanNow</a:t>
            </a:r>
            <a:endParaRPr/>
          </a:p>
          <a:p>
            <a:pPr indent="-342900" lvl="0" marL="457200" rtl="0" algn="l">
              <a:spcBef>
                <a:spcPts val="0"/>
              </a:spcBef>
              <a:spcAft>
                <a:spcPts val="0"/>
              </a:spcAft>
              <a:buSzPts val="1800"/>
              <a:buChar char="●"/>
            </a:pPr>
            <a:r>
              <a:rPr lang="id"/>
              <a:t>Tiktok : </a:t>
            </a:r>
            <a:r>
              <a:rPr lang="id" u="sng">
                <a:solidFill>
                  <a:schemeClr val="hlink"/>
                </a:solidFill>
                <a:hlinkClick r:id="rId9"/>
              </a:rPr>
              <a:t>https://tiktok.com/@programmerzamannow</a:t>
            </a:r>
            <a:r>
              <a:rPr lang="id"/>
              <a:t> </a:t>
            </a:r>
            <a:endParaRPr/>
          </a:p>
          <a:p>
            <a:pPr indent="-342900" lvl="0" marL="457200" rtl="0" algn="l">
              <a:spcBef>
                <a:spcPts val="0"/>
              </a:spcBef>
              <a:spcAft>
                <a:spcPts val="0"/>
              </a:spcAft>
              <a:buSzPts val="18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Mengerti Cara Menginstall Aplikasi di Sistem Operasi</a:t>
            </a:r>
            <a:endParaRPr/>
          </a:p>
          <a:p>
            <a:pPr indent="-342900" lvl="0" marL="457200" rtl="0" algn="l">
              <a:spcBef>
                <a:spcPts val="0"/>
              </a:spcBef>
              <a:spcAft>
                <a:spcPts val="0"/>
              </a:spcAft>
              <a:buSzPts val="1800"/>
              <a:buChar char="●"/>
            </a:pPr>
            <a:r>
              <a:rPr lang="id"/>
              <a:t>Mengerti Cara Menggunakan Terminal / Shell / Command Prompt</a:t>
            </a:r>
            <a:endParaRPr/>
          </a:p>
          <a:p>
            <a:pPr indent="-342900" lvl="0" marL="457200" rtl="0" algn="l">
              <a:spcBef>
                <a:spcPts val="0"/>
              </a:spcBef>
              <a:spcAft>
                <a:spcPts val="0"/>
              </a:spcAft>
              <a:buSzPts val="1800"/>
              <a:buChar char="●"/>
            </a:pPr>
            <a:r>
              <a:rPr lang="id"/>
              <a:t>Tahu apa itu Bahasa Pemrograman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Pengenalan Python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Pengenalan Python</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Python adalah bahasa pemrograman tingkat tinggi yang dibuat oleh Guido van Rossum dan pertama kali dirilis pada tahun 1991. Python terkenal karena sintaksnya yang sederhana dan mudah dipahami, mirip dengan bahasa Inggris.</a:t>
            </a:r>
            <a:endParaRPr/>
          </a:p>
          <a:p>
            <a:pPr indent="-342900" lvl="0" marL="457200" rtl="0" algn="l">
              <a:spcBef>
                <a:spcPts val="0"/>
              </a:spcBef>
              <a:spcAft>
                <a:spcPts val="0"/>
              </a:spcAft>
              <a:buSzPts val="1800"/>
              <a:buChar char="●"/>
            </a:pPr>
            <a:r>
              <a:rPr lang="id" u="sng">
                <a:solidFill>
                  <a:schemeClr val="hlink"/>
                </a:solidFill>
                <a:hlinkClick r:id="rId3"/>
              </a:rPr>
              <a:t>https://www.python.org/</a:t>
            </a:r>
            <a:r>
              <a:rPr lang="id"/>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Karakteristik Python</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Mudah dipelajari: Sintaks yang bersih dan sederhana</a:t>
            </a:r>
            <a:endParaRPr/>
          </a:p>
          <a:p>
            <a:pPr indent="-342900" lvl="0" marL="457200" rtl="0" algn="l">
              <a:spcBef>
                <a:spcPts val="0"/>
              </a:spcBef>
              <a:spcAft>
                <a:spcPts val="0"/>
              </a:spcAft>
              <a:buSzPts val="1800"/>
              <a:buChar char="●"/>
            </a:pPr>
            <a:r>
              <a:rPr lang="id"/>
              <a:t>Interpreted language: Tidak perlu dikompilasi terlebih dahulu</a:t>
            </a:r>
            <a:endParaRPr/>
          </a:p>
          <a:p>
            <a:pPr indent="-342900" lvl="0" marL="457200" rtl="0" algn="l">
              <a:spcBef>
                <a:spcPts val="0"/>
              </a:spcBef>
              <a:spcAft>
                <a:spcPts val="0"/>
              </a:spcAft>
              <a:buSzPts val="1800"/>
              <a:buChar char="●"/>
            </a:pPr>
            <a:r>
              <a:rPr lang="id"/>
              <a:t>Cross-platform: Berjalan di Windows, Mac, Linux</a:t>
            </a:r>
            <a:endParaRPr/>
          </a:p>
          <a:p>
            <a:pPr indent="-342900" lvl="0" marL="457200" rtl="0" algn="l">
              <a:spcBef>
                <a:spcPts val="0"/>
              </a:spcBef>
              <a:spcAft>
                <a:spcPts val="0"/>
              </a:spcAft>
              <a:buSzPts val="1800"/>
              <a:buChar char="●"/>
            </a:pPr>
            <a:r>
              <a:rPr lang="id"/>
              <a:t>Open source: Gratis dan bebas digunakan</a:t>
            </a:r>
            <a:endParaRPr/>
          </a:p>
          <a:p>
            <a:pPr indent="-342900" lvl="0" marL="457200" rtl="0" algn="l">
              <a:spcBef>
                <a:spcPts val="0"/>
              </a:spcBef>
              <a:spcAft>
                <a:spcPts val="0"/>
              </a:spcAft>
              <a:buSzPts val="1800"/>
              <a:buChar char="●"/>
            </a:pPr>
            <a:r>
              <a:rPr lang="id"/>
              <a:t>Versatile: Bisa digunakan untuk berbagai keperluan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Kegunaan Python</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Web Development: Django, Flask</a:t>
            </a:r>
            <a:endParaRPr/>
          </a:p>
          <a:p>
            <a:pPr indent="-342900" lvl="0" marL="457200" rtl="0" algn="l">
              <a:spcBef>
                <a:spcPts val="0"/>
              </a:spcBef>
              <a:spcAft>
                <a:spcPts val="0"/>
              </a:spcAft>
              <a:buSzPts val="1800"/>
              <a:buChar char="●"/>
            </a:pPr>
            <a:r>
              <a:rPr lang="id"/>
              <a:t>Data Science &amp; Analytics: Pandas, NumPy, Matplotlib</a:t>
            </a:r>
            <a:endParaRPr/>
          </a:p>
          <a:p>
            <a:pPr indent="-342900" lvl="0" marL="457200" rtl="0" algn="l">
              <a:spcBef>
                <a:spcPts val="0"/>
              </a:spcBef>
              <a:spcAft>
                <a:spcPts val="0"/>
              </a:spcAft>
              <a:buSzPts val="1800"/>
              <a:buChar char="●"/>
            </a:pPr>
            <a:r>
              <a:rPr lang="id"/>
              <a:t>Machine Learning: TensorFlow, scikit-learn</a:t>
            </a:r>
            <a:endParaRPr/>
          </a:p>
          <a:p>
            <a:pPr indent="-342900" lvl="0" marL="457200" rtl="0" algn="l">
              <a:spcBef>
                <a:spcPts val="0"/>
              </a:spcBef>
              <a:spcAft>
                <a:spcPts val="0"/>
              </a:spcAft>
              <a:buSzPts val="1800"/>
              <a:buChar char="●"/>
            </a:pPr>
            <a:r>
              <a:rPr lang="id"/>
              <a:t>Automation/Scripting: Otomatisasi tugas-tugas repetitif</a:t>
            </a:r>
            <a:endParaRPr/>
          </a:p>
          <a:p>
            <a:pPr indent="-342900" lvl="0" marL="457200" rtl="0" algn="l">
              <a:spcBef>
                <a:spcPts val="0"/>
              </a:spcBef>
              <a:spcAft>
                <a:spcPts val="0"/>
              </a:spcAft>
              <a:buSzPts val="1800"/>
              <a:buChar char="●"/>
            </a:pPr>
            <a:r>
              <a:rPr lang="id"/>
              <a:t>Desktop Applications: Tkinter, PyQt</a:t>
            </a:r>
            <a:endParaRPr/>
          </a:p>
          <a:p>
            <a:pPr indent="-342900" lvl="0" marL="457200" rtl="0" algn="l">
              <a:spcBef>
                <a:spcPts val="0"/>
              </a:spcBef>
              <a:spcAft>
                <a:spcPts val="0"/>
              </a:spcAft>
              <a:buSzPts val="1800"/>
              <a:buChar char="●"/>
            </a:pPr>
            <a:r>
              <a:rPr lang="id"/>
              <a:t>Game Development: Pygame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Kelebihan Python</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Sintaks yang mudah dipahami</a:t>
            </a:r>
            <a:endParaRPr/>
          </a:p>
          <a:p>
            <a:pPr indent="-342900" lvl="0" marL="457200" rtl="0" algn="l">
              <a:spcBef>
                <a:spcPts val="0"/>
              </a:spcBef>
              <a:spcAft>
                <a:spcPts val="0"/>
              </a:spcAft>
              <a:buSzPts val="1800"/>
              <a:buChar char="●"/>
            </a:pPr>
            <a:r>
              <a:rPr lang="id"/>
              <a:t>Library yang sangat banyak</a:t>
            </a:r>
            <a:endParaRPr/>
          </a:p>
          <a:p>
            <a:pPr indent="-342900" lvl="0" marL="457200" rtl="0" algn="l">
              <a:spcBef>
                <a:spcPts val="0"/>
              </a:spcBef>
              <a:spcAft>
                <a:spcPts val="0"/>
              </a:spcAft>
              <a:buSzPts val="1800"/>
              <a:buChar char="●"/>
            </a:pPr>
            <a:r>
              <a:rPr lang="id"/>
              <a:t>Komunitas yang besar dan aktif</a:t>
            </a:r>
            <a:endParaRPr/>
          </a:p>
          <a:p>
            <a:pPr indent="-342900" lvl="0" marL="457200" rtl="0" algn="l">
              <a:spcBef>
                <a:spcPts val="0"/>
              </a:spcBef>
              <a:spcAft>
                <a:spcPts val="0"/>
              </a:spcAft>
              <a:buSzPts val="1800"/>
              <a:buChar char="●"/>
            </a:pPr>
            <a:r>
              <a:rPr lang="id"/>
              <a:t>Pengembangan yang cepat</a:t>
            </a:r>
            <a:endParaRPr/>
          </a:p>
          <a:p>
            <a:pPr indent="-342900" lvl="0" marL="457200" rtl="0" algn="l">
              <a:spcBef>
                <a:spcPts val="0"/>
              </a:spcBef>
              <a:spcAft>
                <a:spcPts val="0"/>
              </a:spcAft>
              <a:buSzPts val="1800"/>
              <a:buChar char="●"/>
            </a:pPr>
            <a:r>
              <a:rPr lang="id"/>
              <a:t>Multiplatform (bisa berjalan di banyak sistem operasi)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Kekurangan Python</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Kecepatan eksekusi lebih lambat dibanding bahasa compiled (C, C++, Java, Golang, dan lain-lain)</a:t>
            </a:r>
            <a:endParaRPr/>
          </a:p>
          <a:p>
            <a:pPr indent="-342900" lvl="0" marL="457200" rtl="0" algn="l">
              <a:spcBef>
                <a:spcPts val="0"/>
              </a:spcBef>
              <a:spcAft>
                <a:spcPts val="0"/>
              </a:spcAft>
              <a:buSzPts val="1800"/>
              <a:buChar char="●"/>
            </a:pPr>
            <a:r>
              <a:rPr lang="id"/>
              <a:t>Konsumsi memori yang lebih besar</a:t>
            </a:r>
            <a:endParaRPr/>
          </a:p>
          <a:p>
            <a:pPr indent="-342900" lvl="0" marL="457200" rtl="0" algn="l">
              <a:spcBef>
                <a:spcPts val="0"/>
              </a:spcBef>
              <a:spcAft>
                <a:spcPts val="0"/>
              </a:spcAft>
              <a:buSzPts val="1800"/>
              <a:buChar char="●"/>
            </a:pPr>
            <a:r>
              <a:rPr lang="id"/>
              <a:t>Tidak ideal untuk mobile development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Instalasi Python</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u="sng">
                <a:solidFill>
                  <a:schemeClr val="hlink"/>
                </a:solidFill>
                <a:hlinkClick r:id="rId3"/>
              </a:rPr>
              <a:t>https://www.python.org/downloads/</a:t>
            </a:r>
            <a:endParaRPr/>
          </a:p>
          <a:p>
            <a:pPr indent="-342900" lvl="0" marL="457200" rtl="0" algn="l">
              <a:spcBef>
                <a:spcPts val="0"/>
              </a:spcBef>
              <a:spcAft>
                <a:spcPts val="0"/>
              </a:spcAft>
              <a:buSzPts val="1800"/>
              <a:buChar char="●"/>
            </a:pPr>
            <a:r>
              <a:rPr lang="id"/>
              <a:t>Gunakan terminal / shell / command prompt, ketik :</a:t>
            </a:r>
            <a:br>
              <a:rPr lang="id"/>
            </a:br>
            <a:r>
              <a:rPr lang="id"/>
              <a:t>python --version</a:t>
            </a:r>
            <a:endParaRPr/>
          </a:p>
          <a:p>
            <a:pPr indent="-342900" lvl="0" marL="457200" rtl="0" algn="l">
              <a:spcBef>
                <a:spcPts val="0"/>
              </a:spcBef>
              <a:spcAft>
                <a:spcPts val="0"/>
              </a:spcAft>
              <a:buSzPts val="1800"/>
              <a:buChar char="●"/>
            </a:pPr>
            <a:r>
              <a:rPr lang="id"/>
              <a:t>Atau :</a:t>
            </a:r>
            <a:br>
              <a:rPr lang="id"/>
            </a:br>
            <a:r>
              <a:rPr lang="id"/>
              <a:t>python3 --version</a:t>
            </a:r>
            <a:endParaRPr/>
          </a:p>
        </p:txBody>
      </p:sp>
      <p:pic>
        <p:nvPicPr>
          <p:cNvPr id="121" name="Google Shape;121;p23"/>
          <p:cNvPicPr preferRelativeResize="0"/>
          <p:nvPr/>
        </p:nvPicPr>
        <p:blipFill>
          <a:blip r:embed="rId4">
            <a:alphaModFix/>
          </a:blip>
          <a:stretch>
            <a:fillRect/>
          </a:stretch>
        </p:blipFill>
        <p:spPr>
          <a:xfrm>
            <a:off x="2242588" y="3090525"/>
            <a:ext cx="4658826" cy="1327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Memilih dan Setup IDE/Text Editor</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Visual Studio Code : </a:t>
            </a:r>
            <a:r>
              <a:rPr lang="id" u="sng">
                <a:solidFill>
                  <a:schemeClr val="hlink"/>
                </a:solidFill>
                <a:hlinkClick r:id="rId3"/>
              </a:rPr>
              <a:t>https://code.visualstudio.com/</a:t>
            </a:r>
            <a:r>
              <a:rPr lang="id"/>
              <a:t> </a:t>
            </a:r>
            <a:endParaRPr/>
          </a:p>
          <a:p>
            <a:pPr indent="-342900" lvl="0" marL="457200" rtl="0" algn="l">
              <a:spcBef>
                <a:spcPts val="0"/>
              </a:spcBef>
              <a:spcAft>
                <a:spcPts val="0"/>
              </a:spcAft>
              <a:buSzPts val="1800"/>
              <a:buChar char="●"/>
            </a:pPr>
            <a:r>
              <a:rPr lang="id"/>
              <a:t>Pycharm : </a:t>
            </a:r>
            <a:r>
              <a:rPr lang="id" u="sng">
                <a:solidFill>
                  <a:schemeClr val="hlink"/>
                </a:solidFill>
                <a:hlinkClick r:id="rId4"/>
              </a:rPr>
              <a:t>https://www.jetbrains.com/pycharm/</a:t>
            </a:r>
            <a:r>
              <a:rPr lang="id"/>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Program Hello Python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Python Interactive Shell</a:t>
            </a:r>
            <a:endParaRPr/>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Buka terminal dan ketik python atau python3</a:t>
            </a:r>
            <a:endParaRPr/>
          </a:p>
          <a:p>
            <a:pPr indent="-342900" lvl="0" marL="457200" rtl="0" algn="l">
              <a:spcBef>
                <a:spcPts val="0"/>
              </a:spcBef>
              <a:spcAft>
                <a:spcPts val="0"/>
              </a:spcAft>
              <a:buSzPts val="1800"/>
              <a:buChar char="●"/>
            </a:pPr>
            <a:r>
              <a:rPr lang="id"/>
              <a:t>Untuk membuat program yang menampilkan tulisan, kita bisa gunakan perintah print(), atau disebut sebagai function</a:t>
            </a:r>
            <a:endParaRPr/>
          </a:p>
          <a:p>
            <a:pPr indent="-342900" lvl="0" marL="457200" rtl="0" algn="l">
              <a:spcBef>
                <a:spcPts val="0"/>
              </a:spcBef>
              <a:spcAft>
                <a:spcPts val="0"/>
              </a:spcAft>
              <a:buSzPts val="1800"/>
              <a:buChar char="●"/>
            </a:pPr>
            <a:r>
              <a:rPr lang="id"/>
              <a:t>Di dalam kurung buka dan kurung tutup, kita bisa menambahkan tulisan, yang harus diawali petik dua dan diakhiri dengan petik dua, atau disebut String, misal :</a:t>
            </a:r>
            <a:br>
              <a:rPr lang="id"/>
            </a:br>
            <a:r>
              <a:rPr lang="id"/>
              <a:t>print(“Hello Python”)</a:t>
            </a:r>
            <a:endParaRPr/>
          </a:p>
          <a:p>
            <a:pPr indent="-342900" lvl="0" marL="457200" rtl="0" algn="l">
              <a:spcBef>
                <a:spcPts val="0"/>
              </a:spcBef>
              <a:spcAft>
                <a:spcPts val="0"/>
              </a:spcAft>
              <a:buSzPts val="1800"/>
              <a:buChar char="●"/>
            </a:pPr>
            <a:r>
              <a:rPr lang="id"/>
              <a:t>Untuk keluar dari Python Interactive Shell, kita bisa gunakan kata quit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Hello Python Interactive Shell</a:t>
            </a:r>
            <a:endParaRPr/>
          </a:p>
        </p:txBody>
      </p:sp>
      <p:pic>
        <p:nvPicPr>
          <p:cNvPr id="144" name="Google Shape;144;p27"/>
          <p:cNvPicPr preferRelativeResize="0"/>
          <p:nvPr/>
        </p:nvPicPr>
        <p:blipFill>
          <a:blip r:embed="rId3">
            <a:alphaModFix/>
          </a:blip>
          <a:stretch>
            <a:fillRect/>
          </a:stretch>
        </p:blipFill>
        <p:spPr>
          <a:xfrm>
            <a:off x="152400" y="1170125"/>
            <a:ext cx="8839201" cy="23708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 Python</a:t>
            </a:r>
            <a:endParaRPr/>
          </a:p>
        </p:txBody>
      </p:sp>
      <p:sp>
        <p:nvSpPr>
          <p:cNvPr id="150" name="Google Shape;15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Pada kenyataannya, saat membuat program menggunakan Python, kita biasanya tidak mungkin jarang menggunakan Python Interactive Shell, biasanya kita akan simpan kode program Python kita dalam file</a:t>
            </a:r>
            <a:endParaRPr/>
          </a:p>
          <a:p>
            <a:pPr indent="-342900" lvl="0" marL="457200" rtl="0" algn="l">
              <a:spcBef>
                <a:spcPts val="0"/>
              </a:spcBef>
              <a:spcAft>
                <a:spcPts val="0"/>
              </a:spcAft>
              <a:buSzPts val="1800"/>
              <a:buChar char="●"/>
            </a:pPr>
            <a:r>
              <a:rPr lang="id"/>
              <a:t>File Python menggunakan ekstensi / akhiran .py, menggunakan</a:t>
            </a:r>
            <a:r>
              <a:rPr lang="id"/>
              <a:t> huruf kecil semua, jika butuh lebih dari satu kata, pisahkan kata dengan underscore (_), dan terakhir hindari spasi dan karakter khusus pada nama file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hello.py</a:t>
            </a:r>
            <a:endParaRPr/>
          </a:p>
        </p:txBody>
      </p:sp>
      <p:pic>
        <p:nvPicPr>
          <p:cNvPr id="156" name="Google Shape;156;p29"/>
          <p:cNvPicPr preferRelativeResize="0"/>
          <p:nvPr/>
        </p:nvPicPr>
        <p:blipFill>
          <a:blip r:embed="rId3">
            <a:alphaModFix/>
          </a:blip>
          <a:stretch>
            <a:fillRect/>
          </a:stretch>
        </p:blipFill>
        <p:spPr>
          <a:xfrm>
            <a:off x="152400" y="1170125"/>
            <a:ext cx="8839198" cy="31865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Menjalankan File Python</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Untuk menjalankan kode program yang sudah kita buat, kita bisa menggunakan perintah : </a:t>
            </a:r>
            <a:br>
              <a:rPr lang="id"/>
            </a:br>
            <a:br>
              <a:rPr lang="id"/>
            </a:br>
            <a:r>
              <a:rPr lang="id"/>
              <a:t>python3 nama_file.py</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id"/>
              <a:t>Pastikan kita mengetikkan perintah python3 di lokasi folder yang terdapat nama_file.py tersebut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Hasil Menjalankan File Python</a:t>
            </a:r>
            <a:endParaRPr/>
          </a:p>
        </p:txBody>
      </p:sp>
      <p:pic>
        <p:nvPicPr>
          <p:cNvPr id="168" name="Google Shape;168;p31"/>
          <p:cNvPicPr preferRelativeResize="0"/>
          <p:nvPr/>
        </p:nvPicPr>
        <p:blipFill>
          <a:blip r:embed="rId3">
            <a:alphaModFix/>
          </a:blip>
          <a:stretch>
            <a:fillRect/>
          </a:stretch>
        </p:blipFill>
        <p:spPr>
          <a:xfrm>
            <a:off x="152400" y="1170125"/>
            <a:ext cx="8839200" cy="273211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Komentar</a:t>
            </a:r>
            <a:endParaRPr/>
          </a:p>
        </p:txBody>
      </p:sp>
      <p:sp>
        <p:nvSpPr>
          <p:cNvPr id="174" name="Google Shape;17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Saat membuat kode program Python, kadang kita butuh menambahkan komentar pada kode ini</a:t>
            </a:r>
            <a:endParaRPr/>
          </a:p>
          <a:p>
            <a:pPr indent="-342900" lvl="0" marL="457200" rtl="0" algn="l">
              <a:spcBef>
                <a:spcPts val="0"/>
              </a:spcBef>
              <a:spcAft>
                <a:spcPts val="0"/>
              </a:spcAft>
              <a:buSzPts val="1800"/>
              <a:buChar char="●"/>
            </a:pPr>
            <a:r>
              <a:rPr lang="id"/>
              <a:t>Ini biasanya digunakan untuk catatan agar kita ingat apa yang dilakukan oleh kode ini</a:t>
            </a:r>
            <a:endParaRPr/>
          </a:p>
          <a:p>
            <a:pPr indent="-342900" lvl="0" marL="457200" rtl="0" algn="l">
              <a:spcBef>
                <a:spcPts val="0"/>
              </a:spcBef>
              <a:spcAft>
                <a:spcPts val="0"/>
              </a:spcAft>
              <a:buSzPts val="1800"/>
              <a:buChar char="●"/>
            </a:pPr>
            <a:r>
              <a:rPr lang="id"/>
              <a:t>Komentar merupakan kode yang tidak akan dieksekusi oleh Python, jadi ini hanya digunakan sebagai catatan kita</a:t>
            </a:r>
            <a:endParaRPr/>
          </a:p>
          <a:p>
            <a:pPr indent="-342900" lvl="0" marL="457200" rtl="0" algn="l">
              <a:spcBef>
                <a:spcPts val="0"/>
              </a:spcBef>
              <a:spcAft>
                <a:spcPts val="0"/>
              </a:spcAft>
              <a:buSzPts val="1800"/>
              <a:buChar char="●"/>
            </a:pPr>
            <a:r>
              <a:rPr lang="id"/>
              <a:t>Kita bisa menggunakan tanda # di awal baris, yang artinya baris tersebut akan dianggap sebagai komentar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Komentar di hello.py</a:t>
            </a:r>
            <a:endParaRPr/>
          </a:p>
        </p:txBody>
      </p:sp>
      <p:pic>
        <p:nvPicPr>
          <p:cNvPr id="180" name="Google Shape;180;p33"/>
          <p:cNvPicPr preferRelativeResize="0"/>
          <p:nvPr/>
        </p:nvPicPr>
        <p:blipFill>
          <a:blip r:embed="rId3">
            <a:alphaModFix/>
          </a:blip>
          <a:stretch>
            <a:fillRect/>
          </a:stretch>
        </p:blipFill>
        <p:spPr>
          <a:xfrm>
            <a:off x="152400" y="1170125"/>
            <a:ext cx="8839202" cy="35492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Variabel dan Tipe Data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Variabel?</a:t>
            </a:r>
            <a:endParaRPr/>
          </a:p>
        </p:txBody>
      </p:sp>
      <p:sp>
        <p:nvSpPr>
          <p:cNvPr id="191" name="Google Shape;19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Variabel adalah "wadah" atau "kotak" untuk menyimpan data di dalam memori komputer. Dalam Python, variabel bersifat dinamis - tipe datanya bisa berubah selama program berjalan.</a:t>
            </a:r>
            <a:endParaRPr/>
          </a:p>
          <a:p>
            <a:pPr indent="-342900" lvl="0" marL="457200" rtl="0" algn="l">
              <a:spcBef>
                <a:spcPts val="0"/>
              </a:spcBef>
              <a:spcAft>
                <a:spcPts val="0"/>
              </a:spcAft>
              <a:buSzPts val="1800"/>
              <a:buChar char="●"/>
            </a:pPr>
            <a:r>
              <a:rPr lang="id"/>
              <a:t>Analogi Sederhana, bayangkan variabel seperti kotak dengan label. Kita bisa memasukkan berbagai jenis barang ke dalam kotak tersebut, dan labelnya adalah nama variabel.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variabel.py</a:t>
            </a:r>
            <a:endParaRPr/>
          </a:p>
        </p:txBody>
      </p:sp>
      <p:pic>
        <p:nvPicPr>
          <p:cNvPr id="197" name="Google Shape;197;p36"/>
          <p:cNvPicPr preferRelativeResize="0"/>
          <p:nvPr/>
        </p:nvPicPr>
        <p:blipFill>
          <a:blip r:embed="rId3">
            <a:alphaModFix/>
          </a:blip>
          <a:stretch>
            <a:fillRect/>
          </a:stretch>
        </p:blipFill>
        <p:spPr>
          <a:xfrm>
            <a:off x="152400" y="1170125"/>
            <a:ext cx="8839200" cy="22848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Aturan Penamaan Variabel</a:t>
            </a:r>
            <a:endParaRPr/>
          </a:p>
        </p:txBody>
      </p:sp>
      <p:sp>
        <p:nvSpPr>
          <p:cNvPr id="203" name="Google Shape;203;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Tidak boleh dimulai dengan angka</a:t>
            </a:r>
            <a:endParaRPr/>
          </a:p>
          <a:p>
            <a:pPr indent="-342900" lvl="0" marL="457200" rtl="0" algn="l">
              <a:spcBef>
                <a:spcPts val="0"/>
              </a:spcBef>
              <a:spcAft>
                <a:spcPts val="0"/>
              </a:spcAft>
              <a:buSzPts val="1800"/>
              <a:buChar char="●"/>
            </a:pPr>
            <a:r>
              <a:rPr lang="id"/>
              <a:t>Tidak boleh dimulai dengan angka</a:t>
            </a:r>
            <a:endParaRPr/>
          </a:p>
          <a:p>
            <a:pPr indent="-342900" lvl="0" marL="457200" rtl="0" algn="l">
              <a:spcBef>
                <a:spcPts val="0"/>
              </a:spcBef>
              <a:spcAft>
                <a:spcPts val="0"/>
              </a:spcAft>
              <a:buSzPts val="1800"/>
              <a:buChar char="●"/>
            </a:pPr>
            <a:r>
              <a:rPr lang="id"/>
              <a:t>Tidak boleh pakai tanda minus</a:t>
            </a:r>
            <a:endParaRPr/>
          </a:p>
          <a:p>
            <a:pPr indent="-342900" lvl="0" marL="457200" rtl="0" algn="l">
              <a:spcBef>
                <a:spcPts val="0"/>
              </a:spcBef>
              <a:spcAft>
                <a:spcPts val="0"/>
              </a:spcAft>
              <a:buSzPts val="1800"/>
              <a:buChar char="●"/>
            </a:pPr>
            <a:r>
              <a:rPr lang="id"/>
              <a:t>Tidak boleh pakai keyword Python</a:t>
            </a:r>
            <a:endParaRPr/>
          </a:p>
          <a:p>
            <a:pPr indent="-342900" lvl="0" marL="457200" rtl="0" algn="l">
              <a:spcBef>
                <a:spcPts val="0"/>
              </a:spcBef>
              <a:spcAft>
                <a:spcPts val="0"/>
              </a:spcAft>
              <a:buSzPts val="1800"/>
              <a:buChar char="●"/>
            </a:pPr>
            <a:r>
              <a:rPr lang="id"/>
              <a:t>Tidak boleh ada spasi</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Tipe Data Dasar Python</a:t>
            </a:r>
            <a:endParaRPr/>
          </a:p>
        </p:txBody>
      </p:sp>
      <p:sp>
        <p:nvSpPr>
          <p:cNvPr id="209" name="Google Shape;20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Integer (int) - Bilangan Bulat</a:t>
            </a:r>
            <a:endParaRPr/>
          </a:p>
          <a:p>
            <a:pPr indent="-342900" lvl="0" marL="457200" rtl="0" algn="l">
              <a:spcBef>
                <a:spcPts val="0"/>
              </a:spcBef>
              <a:spcAft>
                <a:spcPts val="0"/>
              </a:spcAft>
              <a:buSzPts val="1800"/>
              <a:buChar char="●"/>
            </a:pPr>
            <a:r>
              <a:rPr lang="id"/>
              <a:t>Float - Bilangan Desimal</a:t>
            </a:r>
            <a:endParaRPr/>
          </a:p>
          <a:p>
            <a:pPr indent="-342900" lvl="0" marL="457200" rtl="0" algn="l">
              <a:spcBef>
                <a:spcPts val="0"/>
              </a:spcBef>
              <a:spcAft>
                <a:spcPts val="0"/>
              </a:spcAft>
              <a:buSzPts val="1800"/>
              <a:buChar char="●"/>
            </a:pPr>
            <a:r>
              <a:rPr lang="id"/>
              <a:t>String (str) - Teks</a:t>
            </a:r>
            <a:endParaRPr/>
          </a:p>
          <a:p>
            <a:pPr indent="-342900" lvl="0" marL="457200" rtl="0" algn="l">
              <a:spcBef>
                <a:spcPts val="0"/>
              </a:spcBef>
              <a:spcAft>
                <a:spcPts val="0"/>
              </a:spcAft>
              <a:buSzPts val="1800"/>
              <a:buChar char="●"/>
            </a:pPr>
            <a:r>
              <a:rPr lang="id"/>
              <a:t>Boolean (bool) - True/False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Tipe Data Integer</a:t>
            </a:r>
            <a:endParaRPr/>
          </a:p>
        </p:txBody>
      </p:sp>
      <p:pic>
        <p:nvPicPr>
          <p:cNvPr id="215" name="Google Shape;215;p39"/>
          <p:cNvPicPr preferRelativeResize="0"/>
          <p:nvPr/>
        </p:nvPicPr>
        <p:blipFill>
          <a:blip r:embed="rId3">
            <a:alphaModFix/>
          </a:blip>
          <a:stretch>
            <a:fillRect/>
          </a:stretch>
        </p:blipFill>
        <p:spPr>
          <a:xfrm>
            <a:off x="152400" y="1170125"/>
            <a:ext cx="6798202" cy="38209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Tipe Data Float</a:t>
            </a:r>
            <a:endParaRPr/>
          </a:p>
        </p:txBody>
      </p:sp>
      <p:pic>
        <p:nvPicPr>
          <p:cNvPr id="221" name="Google Shape;221;p40"/>
          <p:cNvPicPr preferRelativeResize="0"/>
          <p:nvPr/>
        </p:nvPicPr>
        <p:blipFill>
          <a:blip r:embed="rId3">
            <a:alphaModFix/>
          </a:blip>
          <a:stretch>
            <a:fillRect/>
          </a:stretch>
        </p:blipFill>
        <p:spPr>
          <a:xfrm>
            <a:off x="152400" y="1170125"/>
            <a:ext cx="6372359" cy="38209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Tipe Data String</a:t>
            </a:r>
            <a:endParaRPr/>
          </a:p>
        </p:txBody>
      </p:sp>
      <p:pic>
        <p:nvPicPr>
          <p:cNvPr id="227" name="Google Shape;227;p41"/>
          <p:cNvPicPr preferRelativeResize="0"/>
          <p:nvPr/>
        </p:nvPicPr>
        <p:blipFill>
          <a:blip r:embed="rId3">
            <a:alphaModFix/>
          </a:blip>
          <a:stretch>
            <a:fillRect/>
          </a:stretch>
        </p:blipFill>
        <p:spPr>
          <a:xfrm>
            <a:off x="152400" y="1170125"/>
            <a:ext cx="5878425" cy="38209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Tipe Data Boolean</a:t>
            </a:r>
            <a:endParaRPr/>
          </a:p>
        </p:txBody>
      </p:sp>
      <p:pic>
        <p:nvPicPr>
          <p:cNvPr id="233" name="Google Shape;233;p42"/>
          <p:cNvPicPr preferRelativeResize="0"/>
          <p:nvPr/>
        </p:nvPicPr>
        <p:blipFill>
          <a:blip r:embed="rId3">
            <a:alphaModFix/>
          </a:blip>
          <a:stretch>
            <a:fillRect/>
          </a:stretch>
        </p:blipFill>
        <p:spPr>
          <a:xfrm>
            <a:off x="152400" y="1170125"/>
            <a:ext cx="8839200" cy="328052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Variabel</a:t>
            </a:r>
            <a:endParaRPr/>
          </a:p>
        </p:txBody>
      </p:sp>
      <p:sp>
        <p:nvSpPr>
          <p:cNvPr id="239" name="Google Shape;239;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Untuk membuat variabel, caranya seperti yang sudah kita lihat sebelumnya, yaitu menggunakan tanda = (sama dengan)</a:t>
            </a:r>
            <a:endParaRPr/>
          </a:p>
          <a:p>
            <a:pPr indent="-342900" lvl="0" marL="457200" rtl="0" algn="l">
              <a:spcBef>
                <a:spcPts val="0"/>
              </a:spcBef>
              <a:spcAft>
                <a:spcPts val="0"/>
              </a:spcAft>
              <a:buSzPts val="1800"/>
              <a:buChar char="●"/>
            </a:pPr>
            <a:r>
              <a:rPr lang="id"/>
              <a:t>Termasuk jika ingin mengubah data variabel yang sudah dibuat, kita juga bisa menggunakan tanda = (sama dengan)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variabel.py</a:t>
            </a:r>
            <a:endParaRPr/>
          </a:p>
        </p:txBody>
      </p:sp>
      <p:pic>
        <p:nvPicPr>
          <p:cNvPr id="245" name="Google Shape;245;p44"/>
          <p:cNvPicPr preferRelativeResize="0"/>
          <p:nvPr/>
        </p:nvPicPr>
        <p:blipFill>
          <a:blip r:embed="rId3">
            <a:alphaModFix/>
          </a:blip>
          <a:stretch>
            <a:fillRect/>
          </a:stretch>
        </p:blipFill>
        <p:spPr>
          <a:xfrm>
            <a:off x="152400" y="1170125"/>
            <a:ext cx="6669865" cy="38209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Menggunakan Variabel</a:t>
            </a:r>
            <a:endParaRPr/>
          </a:p>
        </p:txBody>
      </p:sp>
      <p:sp>
        <p:nvSpPr>
          <p:cNvPr id="251" name="Google Shape;251;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Untuk menggunakan variabel, kita bisa langsung menyebut nama variabel nya</a:t>
            </a:r>
            <a:endParaRPr/>
          </a:p>
          <a:p>
            <a:pPr indent="-342900" lvl="0" marL="457200" rtl="0" algn="l">
              <a:spcBef>
                <a:spcPts val="0"/>
              </a:spcBef>
              <a:spcAft>
                <a:spcPts val="0"/>
              </a:spcAft>
              <a:buSzPts val="1800"/>
              <a:buChar char="●"/>
            </a:pPr>
            <a:r>
              <a:rPr lang="id"/>
              <a:t>Contoh misal jika kita ingin print() isi variabel, kita bisa langsung menggunaan function print(nama_variabel)</a:t>
            </a:r>
            <a:endParaRPr/>
          </a:p>
          <a:p>
            <a:pPr indent="-342900" lvl="0" marL="457200" rtl="0" algn="l">
              <a:spcBef>
                <a:spcPts val="0"/>
              </a:spcBef>
              <a:spcAft>
                <a:spcPts val="0"/>
              </a:spcAft>
              <a:buSzPts val="1800"/>
              <a:buChar char="●"/>
            </a:pPr>
            <a:r>
              <a:rPr lang="id"/>
              <a:t>Namun jika kita ingin menampilkan lebih dari satu data pada function print(), maka kita perlu menggunakan pemisah koma, misal :</a:t>
            </a:r>
            <a:br>
              <a:rPr lang="id"/>
            </a:br>
            <a:r>
              <a:rPr lang="id"/>
              <a:t>print(pertama, kedua, ketiga)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menggunakan_variabel.py</a:t>
            </a:r>
            <a:endParaRPr/>
          </a:p>
        </p:txBody>
      </p:sp>
      <p:pic>
        <p:nvPicPr>
          <p:cNvPr id="257" name="Google Shape;257;p46"/>
          <p:cNvPicPr preferRelativeResize="0"/>
          <p:nvPr/>
        </p:nvPicPr>
        <p:blipFill>
          <a:blip r:embed="rId3">
            <a:alphaModFix/>
          </a:blip>
          <a:stretch>
            <a:fillRect/>
          </a:stretch>
        </p:blipFill>
        <p:spPr>
          <a:xfrm>
            <a:off x="152400" y="1170125"/>
            <a:ext cx="7289057" cy="3820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Input dari Pengguna</a:t>
            </a:r>
            <a:endParaRPr/>
          </a:p>
        </p:txBody>
      </p:sp>
      <p:sp>
        <p:nvSpPr>
          <p:cNvPr id="263" name="Google Shape;26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Kita bisa meminta input dari pengguna menggunakan function input()</a:t>
            </a:r>
            <a:endParaRPr/>
          </a:p>
          <a:p>
            <a:pPr indent="-342900" lvl="0" marL="457200" rtl="0" algn="l">
              <a:spcBef>
                <a:spcPts val="0"/>
              </a:spcBef>
              <a:spcAft>
                <a:spcPts val="0"/>
              </a:spcAft>
              <a:buSzPts val="1800"/>
              <a:buChar char="●"/>
            </a:pPr>
            <a:r>
              <a:rPr lang="id"/>
              <a:t>input() selalu menghasilkan string (teks).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input.py</a:t>
            </a:r>
            <a:endParaRPr/>
          </a:p>
        </p:txBody>
      </p:sp>
      <p:pic>
        <p:nvPicPr>
          <p:cNvPr id="269" name="Google Shape;269;p48"/>
          <p:cNvPicPr preferRelativeResize="0"/>
          <p:nvPr/>
        </p:nvPicPr>
        <p:blipFill>
          <a:blip r:embed="rId3">
            <a:alphaModFix/>
          </a:blip>
          <a:stretch>
            <a:fillRect/>
          </a:stretch>
        </p:blipFill>
        <p:spPr>
          <a:xfrm>
            <a:off x="152400" y="1170125"/>
            <a:ext cx="8839201" cy="352159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Konversi Tipe Data</a:t>
            </a:r>
            <a:endParaRPr/>
          </a:p>
        </p:txBody>
      </p:sp>
      <p:sp>
        <p:nvSpPr>
          <p:cNvPr id="275" name="Google Shape;275;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Konversi tipe data adalah mengubah data dari satu tipe ke tipe lainnya.</a:t>
            </a:r>
            <a:endParaRPr/>
          </a:p>
          <a:p>
            <a:pPr indent="-342900" lvl="0" marL="457200" rtl="0" algn="l">
              <a:spcBef>
                <a:spcPts val="0"/>
              </a:spcBef>
              <a:spcAft>
                <a:spcPts val="0"/>
              </a:spcAft>
              <a:buSzPts val="1800"/>
              <a:buChar char="●"/>
            </a:pPr>
            <a:r>
              <a:rPr lang="id"/>
              <a:t>Terdapat beberapa function yang bisa kita gunakan untuk melakukan konversi dari satu tipe data ke tipe data lain</a:t>
            </a:r>
            <a:endParaRPr/>
          </a:p>
          <a:p>
            <a:pPr indent="-342900" lvl="0" marL="457200" rtl="0" algn="l">
              <a:spcBef>
                <a:spcPts val="0"/>
              </a:spcBef>
              <a:spcAft>
                <a:spcPts val="0"/>
              </a:spcAft>
              <a:buSzPts val="1800"/>
              <a:buChar char="●"/>
            </a:pPr>
            <a:r>
              <a:rPr lang="id"/>
              <a:t>int(), mengubah string atau data lain menjadi integer (bilangan bulat)</a:t>
            </a:r>
            <a:endParaRPr/>
          </a:p>
          <a:p>
            <a:pPr indent="-342900" lvl="0" marL="457200" rtl="0" algn="l">
              <a:spcBef>
                <a:spcPts val="0"/>
              </a:spcBef>
              <a:spcAft>
                <a:spcPts val="0"/>
              </a:spcAft>
              <a:buSzPts val="1800"/>
              <a:buChar char="●"/>
            </a:pPr>
            <a:r>
              <a:rPr lang="id"/>
              <a:t>str(), mengubah integer atau data lain menjadi string (teks)</a:t>
            </a:r>
            <a:endParaRPr/>
          </a:p>
          <a:p>
            <a:pPr indent="-342900" lvl="0" marL="457200" rtl="0" algn="l">
              <a:spcBef>
                <a:spcPts val="0"/>
              </a:spcBef>
              <a:spcAft>
                <a:spcPts val="0"/>
              </a:spcAft>
              <a:buSzPts val="1800"/>
              <a:buChar char="●"/>
            </a:pPr>
            <a:r>
              <a:rPr lang="id"/>
              <a:t>float(), mengubah string atau integer menjadi float (bilangan desimal)</a:t>
            </a:r>
            <a:endParaRPr/>
          </a:p>
          <a:p>
            <a:pPr indent="-342900" lvl="0" marL="457200" rtl="0" algn="l">
              <a:spcBef>
                <a:spcPts val="0"/>
              </a:spcBef>
              <a:spcAft>
                <a:spcPts val="0"/>
              </a:spcAft>
              <a:buSzPts val="1800"/>
              <a:buChar char="●"/>
            </a:pPr>
            <a:r>
              <a:rPr lang="id"/>
              <a:t>bool(), mengubah data lain menjadi boolean (True/False)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konversi.py</a:t>
            </a:r>
            <a:endParaRPr/>
          </a:p>
        </p:txBody>
      </p:sp>
      <p:pic>
        <p:nvPicPr>
          <p:cNvPr id="281" name="Google Shape;281;p50"/>
          <p:cNvPicPr preferRelativeResize="0"/>
          <p:nvPr/>
        </p:nvPicPr>
        <p:blipFill>
          <a:blip r:embed="rId3">
            <a:alphaModFix/>
          </a:blip>
          <a:stretch>
            <a:fillRect/>
          </a:stretch>
        </p:blipFill>
        <p:spPr>
          <a:xfrm>
            <a:off x="152400" y="1170125"/>
            <a:ext cx="8839201" cy="37504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1"/>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String dan Manipulasi String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String?</a:t>
            </a:r>
            <a:endParaRPr/>
          </a:p>
        </p:txBody>
      </p:sp>
      <p:sp>
        <p:nvSpPr>
          <p:cNvPr id="292" name="Google Shape;292;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String adalah tipe data untuk menyimpan teks atau kumpulan karakter. String ditulis dengan menggunakan tanda kutip, baik kutip tunggal (') atau kutip ganda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Menggabungkan String</a:t>
            </a:r>
            <a:endParaRPr/>
          </a:p>
        </p:txBody>
      </p:sp>
      <p:sp>
        <p:nvSpPr>
          <p:cNvPr id="298" name="Google Shape;29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Untuk menggabungkan string, kita bisa menggunakan tanda + (tambah)</a:t>
            </a:r>
            <a:endParaRPr/>
          </a:p>
          <a:p>
            <a:pPr indent="-342900" lvl="0" marL="457200" rtl="0" algn="l">
              <a:spcBef>
                <a:spcPts val="0"/>
              </a:spcBef>
              <a:spcAft>
                <a:spcPts val="0"/>
              </a:spcAft>
              <a:buSzPts val="1800"/>
              <a:buChar char="●"/>
            </a:pPr>
            <a:r>
              <a:rPr lang="id"/>
              <a:t>Dan tipe data string tidak bisa digabungkan dengan tipe data lain seperti integer, float atau boolean, kita harus konversi dulu tipe data lain menjadi tipe data string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04" name="Google Shape;304;p54"/>
          <p:cNvPicPr preferRelativeResize="0"/>
          <p:nvPr/>
        </p:nvPicPr>
        <p:blipFill>
          <a:blip r:embed="rId3">
            <a:alphaModFix/>
          </a:blip>
          <a:stretch>
            <a:fillRect/>
          </a:stretch>
        </p:blipFill>
        <p:spPr>
          <a:xfrm>
            <a:off x="152400" y="1170125"/>
            <a:ext cx="8562666" cy="38209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Panjang String</a:t>
            </a:r>
            <a:endParaRPr/>
          </a:p>
        </p:txBody>
      </p:sp>
      <p:sp>
        <p:nvSpPr>
          <p:cNvPr id="310" name="Google Shape;310;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Gunakan len() untuk mengetahui panjang string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16" name="Google Shape;316;p56"/>
          <p:cNvPicPr preferRelativeResize="0"/>
          <p:nvPr/>
        </p:nvPicPr>
        <p:blipFill>
          <a:blip r:embed="rId3">
            <a:alphaModFix/>
          </a:blip>
          <a:stretch>
            <a:fillRect/>
          </a:stretch>
        </p:blipFill>
        <p:spPr>
          <a:xfrm>
            <a:off x="152400" y="1170125"/>
            <a:ext cx="7394638" cy="38209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Mengakses Karakter dalam String (Indexing)</a:t>
            </a:r>
            <a:endParaRPr/>
          </a:p>
        </p:txBody>
      </p:sp>
      <p:sp>
        <p:nvSpPr>
          <p:cNvPr id="322" name="Google Shape;322;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Setiap karakter dalam string memiliki posisi (index) yang dimulai dari 0</a:t>
            </a:r>
            <a:endParaRPr/>
          </a:p>
          <a:p>
            <a:pPr indent="-342900" lvl="0" marL="457200" rtl="0" algn="l">
              <a:spcBef>
                <a:spcPts val="0"/>
              </a:spcBef>
              <a:spcAft>
                <a:spcPts val="0"/>
              </a:spcAft>
              <a:buSzPts val="1800"/>
              <a:buChar char="●"/>
            </a:pPr>
            <a:r>
              <a:rPr lang="id"/>
              <a:t>Untuk mengakses tiap karakter di string, kita bisa gunakan kurung kotak dan didalam kurung kotak tersebut disebutkan posisi index nya</a:t>
            </a:r>
            <a:endParaRPr/>
          </a:p>
          <a:p>
            <a:pPr indent="-342900" lvl="0" marL="457200" rtl="0" algn="l">
              <a:spcBef>
                <a:spcPts val="0"/>
              </a:spcBef>
              <a:spcAft>
                <a:spcPts val="0"/>
              </a:spcAft>
              <a:buSzPts val="1800"/>
              <a:buChar char="●"/>
            </a:pPr>
            <a:r>
              <a:rPr lang="id"/>
              <a:t>Kita juga bisa menggunakan posisi index negatif jika ingin mulai dari karakter paling belakang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28" name="Google Shape;328;p58"/>
          <p:cNvPicPr preferRelativeResize="0"/>
          <p:nvPr/>
        </p:nvPicPr>
        <p:blipFill>
          <a:blip r:embed="rId3">
            <a:alphaModFix/>
          </a:blip>
          <a:stretch>
            <a:fillRect/>
          </a:stretch>
        </p:blipFill>
        <p:spPr>
          <a:xfrm>
            <a:off x="152400" y="1170125"/>
            <a:ext cx="8839199" cy="342925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String Slicing</a:t>
            </a:r>
            <a:endParaRPr/>
          </a:p>
        </p:txBody>
      </p:sp>
      <p:sp>
        <p:nvSpPr>
          <p:cNvPr id="334" name="Google Shape;334;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String slicing digunakan untuk mengambil sebagian dari string</a:t>
            </a:r>
            <a:endParaRPr/>
          </a:p>
          <a:p>
            <a:pPr indent="-342900" lvl="0" marL="457200" rtl="0" algn="l">
              <a:spcBef>
                <a:spcPts val="0"/>
              </a:spcBef>
              <a:spcAft>
                <a:spcPts val="0"/>
              </a:spcAft>
              <a:buSzPts val="1800"/>
              <a:buChar char="●"/>
            </a:pPr>
            <a:r>
              <a:rPr lang="id"/>
              <a:t>Kita bisa menggunakan kurung kotak dimana di dalam kurung kotak terdapat 2 posisi index dipisahkan oleh : (titik dua), itu menunjukkan posisi awal dan akhir karakter yang ingin kita ambil</a:t>
            </a:r>
            <a:endParaRPr/>
          </a:p>
          <a:p>
            <a:pPr indent="-342900" lvl="0" marL="457200" rtl="0" algn="l">
              <a:spcBef>
                <a:spcPts val="0"/>
              </a:spcBef>
              <a:spcAft>
                <a:spcPts val="0"/>
              </a:spcAft>
              <a:buSzPts val="1800"/>
              <a:buChar char="●"/>
            </a:pPr>
            <a:r>
              <a:rPr lang="id"/>
              <a:t>Jika kita tidak sebutkan posisi index di awal, berarti akan menggunakan default (nilai bawaan) dengan 0</a:t>
            </a:r>
            <a:endParaRPr/>
          </a:p>
          <a:p>
            <a:pPr indent="-342900" lvl="0" marL="457200" rtl="0" algn="l">
              <a:spcBef>
                <a:spcPts val="0"/>
              </a:spcBef>
              <a:spcAft>
                <a:spcPts val="0"/>
              </a:spcAft>
              <a:buSzPts val="1800"/>
              <a:buChar char="●"/>
            </a:pPr>
            <a:r>
              <a:rPr lang="id"/>
              <a:t>Dan jika tidak menyebutkan posisi index di akhir, berarti akan menggunakan default (nilai bawaan) dengan posisi index terakhir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40" name="Google Shape;340;p60"/>
          <p:cNvPicPr preferRelativeResize="0"/>
          <p:nvPr/>
        </p:nvPicPr>
        <p:blipFill>
          <a:blip r:embed="rId3">
            <a:alphaModFix/>
          </a:blip>
          <a:stretch>
            <a:fillRect/>
          </a:stretch>
        </p:blipFill>
        <p:spPr>
          <a:xfrm>
            <a:off x="152400" y="1170125"/>
            <a:ext cx="8211030" cy="382097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String Methods (Fungsi String)</a:t>
            </a:r>
            <a:endParaRPr/>
          </a:p>
        </p:txBody>
      </p:sp>
      <p:sp>
        <p:nvSpPr>
          <p:cNvPr id="346" name="Google Shape;346;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Tipe data string memiliki method (fungsi yang menempel pada tipe data), ada banyak sekali method yang bisa digunakan, seperti</a:t>
            </a:r>
            <a:endParaRPr/>
          </a:p>
          <a:p>
            <a:pPr indent="-342900" lvl="0" marL="457200" rtl="0" algn="l">
              <a:spcBef>
                <a:spcPts val="0"/>
              </a:spcBef>
              <a:spcAft>
                <a:spcPts val="0"/>
              </a:spcAft>
              <a:buSzPts val="1800"/>
              <a:buChar char="●"/>
            </a:pPr>
            <a:r>
              <a:rPr lang="id"/>
              <a:t>upper() untuk mengubah semua karakter string menjadi huruf besar semua</a:t>
            </a:r>
            <a:endParaRPr/>
          </a:p>
          <a:p>
            <a:pPr indent="-342900" lvl="0" marL="457200" rtl="0" algn="l">
              <a:spcBef>
                <a:spcPts val="0"/>
              </a:spcBef>
              <a:spcAft>
                <a:spcPts val="0"/>
              </a:spcAft>
              <a:buSzPts val="1800"/>
              <a:buChar char="●"/>
            </a:pPr>
            <a:r>
              <a:rPr lang="id"/>
              <a:t>lower() untuk mengubah semua karakter string menjadi huruf kecil semua</a:t>
            </a:r>
            <a:endParaRPr/>
          </a:p>
          <a:p>
            <a:pPr indent="-342900" lvl="0" marL="457200" rtl="0" algn="l">
              <a:spcBef>
                <a:spcPts val="0"/>
              </a:spcBef>
              <a:spcAft>
                <a:spcPts val="0"/>
              </a:spcAft>
              <a:buSzPts val="1800"/>
              <a:buChar char="●"/>
            </a:pPr>
            <a:r>
              <a:rPr lang="id"/>
              <a:t>title() untuk mengubah setiap awal karakter di kata menjadi huruf besar</a:t>
            </a:r>
            <a:endParaRPr/>
          </a:p>
          <a:p>
            <a:pPr indent="-342900" lvl="0" marL="457200" rtl="0" algn="l">
              <a:spcBef>
                <a:spcPts val="0"/>
              </a:spcBef>
              <a:spcAft>
                <a:spcPts val="0"/>
              </a:spcAft>
              <a:buSzPts val="1800"/>
              <a:buChar char="●"/>
            </a:pPr>
            <a:r>
              <a:rPr lang="id"/>
              <a:t>capitalize() untuk mengubah awal karakter menjadi huruf besar</a:t>
            </a:r>
            <a:endParaRPr/>
          </a:p>
          <a:p>
            <a:pPr indent="-342900" lvl="0" marL="457200" rtl="0" algn="l">
              <a:spcBef>
                <a:spcPts val="0"/>
              </a:spcBef>
              <a:spcAft>
                <a:spcPts val="0"/>
              </a:spcAft>
              <a:buSzPts val="1800"/>
              <a:buChar char="●"/>
            </a:pPr>
            <a:r>
              <a:rPr lang="id"/>
              <a:t>strip() untuk menghilangkan karakter kosong (seperti spasi) di awal dan akhir</a:t>
            </a:r>
            <a:endParaRPr/>
          </a:p>
          <a:p>
            <a:pPr indent="-342900" lvl="0" marL="457200" rtl="0" algn="l">
              <a:spcBef>
                <a:spcPts val="0"/>
              </a:spcBef>
              <a:spcAft>
                <a:spcPts val="0"/>
              </a:spcAft>
              <a:buSzPts val="1800"/>
              <a:buChar char="●"/>
            </a:pPr>
            <a:r>
              <a:rPr lang="id"/>
              <a:t>replace(dari, menjadi) untuk mengganti bagian tertentu dalam string</a:t>
            </a:r>
            <a:endParaRPr/>
          </a:p>
          <a:p>
            <a:pPr indent="-342900" lvl="0" marL="457200" rtl="0" algn="l">
              <a:spcBef>
                <a:spcPts val="0"/>
              </a:spcBef>
              <a:spcAft>
                <a:spcPts val="0"/>
              </a:spcAft>
              <a:buSzPts val="1800"/>
              <a:buChar char="●"/>
            </a:pPr>
            <a:r>
              <a:rPr lang="id"/>
              <a:t>count(text) untuk menghitung berapa kali text muncul</a:t>
            </a:r>
            <a:endParaRPr/>
          </a:p>
          <a:p>
            <a:pPr indent="-342900" lvl="0" marL="457200" rtl="0" algn="l">
              <a:spcBef>
                <a:spcPts val="0"/>
              </a:spcBef>
              <a:spcAft>
                <a:spcPts val="0"/>
              </a:spcAft>
              <a:buSzPts val="1800"/>
              <a:buChar char="●"/>
            </a:pPr>
            <a:r>
              <a:rPr lang="id"/>
              <a:t>find(text) untuk mencari posisi text muncul</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52" name="Google Shape;352;p62"/>
          <p:cNvPicPr preferRelativeResize="0"/>
          <p:nvPr/>
        </p:nvPicPr>
        <p:blipFill>
          <a:blip r:embed="rId3">
            <a:alphaModFix/>
          </a:blip>
          <a:stretch>
            <a:fillRect/>
          </a:stretch>
        </p:blipFill>
        <p:spPr>
          <a:xfrm>
            <a:off x="152400" y="1170125"/>
            <a:ext cx="4226126" cy="3410325"/>
          </a:xfrm>
          <a:prstGeom prst="rect">
            <a:avLst/>
          </a:prstGeom>
          <a:noFill/>
          <a:ln>
            <a:noFill/>
          </a:ln>
        </p:spPr>
      </p:pic>
      <p:pic>
        <p:nvPicPr>
          <p:cNvPr id="353" name="Google Shape;353;p62"/>
          <p:cNvPicPr preferRelativeResize="0"/>
          <p:nvPr/>
        </p:nvPicPr>
        <p:blipFill>
          <a:blip r:embed="rId4">
            <a:alphaModFix/>
          </a:blip>
          <a:stretch>
            <a:fillRect/>
          </a:stretch>
        </p:blipFill>
        <p:spPr>
          <a:xfrm>
            <a:off x="4530926" y="1170125"/>
            <a:ext cx="4445247" cy="38209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Escape Characters</a:t>
            </a:r>
            <a:endParaRPr/>
          </a:p>
        </p:txBody>
      </p:sp>
      <p:sp>
        <p:nvSpPr>
          <p:cNvPr id="359" name="Google Shape;35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Escape Characters merupakan k</a:t>
            </a:r>
            <a:r>
              <a:rPr lang="id"/>
              <a:t>arakter-karakter khusus dalam string, untuk menggunakan karakter khusus kita perlu menggunakan aturan tertentu</a:t>
            </a:r>
            <a:endParaRPr/>
          </a:p>
          <a:p>
            <a:pPr indent="-342900" lvl="0" marL="457200" rtl="0" algn="l">
              <a:spcBef>
                <a:spcPts val="0"/>
              </a:spcBef>
              <a:spcAft>
                <a:spcPts val="0"/>
              </a:spcAft>
              <a:buSzPts val="1800"/>
              <a:buChar char="●"/>
            </a:pPr>
            <a:r>
              <a:rPr lang="id"/>
              <a:t>\n (New Line)</a:t>
            </a:r>
            <a:endParaRPr/>
          </a:p>
          <a:p>
            <a:pPr indent="-342900" lvl="0" marL="457200" rtl="0" algn="l">
              <a:spcBef>
                <a:spcPts val="0"/>
              </a:spcBef>
              <a:spcAft>
                <a:spcPts val="0"/>
              </a:spcAft>
              <a:buSzPts val="1800"/>
              <a:buChar char="●"/>
            </a:pPr>
            <a:r>
              <a:rPr lang="id"/>
              <a:t>\t (Tab)</a:t>
            </a:r>
            <a:endParaRPr/>
          </a:p>
          <a:p>
            <a:pPr indent="-342900" lvl="0" marL="457200" rtl="0" algn="l">
              <a:spcBef>
                <a:spcPts val="0"/>
              </a:spcBef>
              <a:spcAft>
                <a:spcPts val="0"/>
              </a:spcAft>
              <a:buSzPts val="1800"/>
              <a:buChar char="●"/>
            </a:pPr>
            <a:r>
              <a:rPr lang="id"/>
              <a:t>\ (Backslash)</a:t>
            </a:r>
            <a:endParaRPr/>
          </a:p>
          <a:p>
            <a:pPr indent="-342900" lvl="0" marL="457200" rtl="0" algn="l">
              <a:spcBef>
                <a:spcPts val="0"/>
              </a:spcBef>
              <a:spcAft>
                <a:spcPts val="0"/>
              </a:spcAft>
              <a:buSzPts val="1800"/>
              <a:buChar char="●"/>
            </a:pPr>
            <a:r>
              <a:rPr lang="id"/>
              <a:t>" dan ' (Kutip dalam String), perlu menambahkan \ diawal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65" name="Google Shape;365;p64"/>
          <p:cNvPicPr preferRelativeResize="0"/>
          <p:nvPr/>
        </p:nvPicPr>
        <p:blipFill>
          <a:blip r:embed="rId3">
            <a:alphaModFix/>
          </a:blip>
          <a:stretch>
            <a:fillRect/>
          </a:stretch>
        </p:blipFill>
        <p:spPr>
          <a:xfrm>
            <a:off x="152400" y="1170125"/>
            <a:ext cx="6061671" cy="382097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String Interpolation</a:t>
            </a:r>
            <a:endParaRPr/>
          </a:p>
        </p:txBody>
      </p:sp>
      <p:sp>
        <p:nvSpPr>
          <p:cNvPr id="371" name="Google Shape;371;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String interpolation adalah cara modern untuk menggabungkan variabel dengan teks. </a:t>
            </a:r>
            <a:endParaRPr/>
          </a:p>
          <a:p>
            <a:pPr indent="-342900" lvl="0" marL="457200" rtl="0" algn="l">
              <a:spcBef>
                <a:spcPts val="0"/>
              </a:spcBef>
              <a:spcAft>
                <a:spcPts val="0"/>
              </a:spcAft>
              <a:buSzPts val="1800"/>
              <a:buChar char="●"/>
            </a:pPr>
            <a:r>
              <a:rPr lang="id"/>
              <a:t>Ini lebih mudah dibaca dan lebih efisien daripada concatenation menggunakan + (plus).</a:t>
            </a:r>
            <a:endParaRPr/>
          </a:p>
          <a:p>
            <a:pPr indent="-342900" lvl="0" marL="457200" rtl="0" algn="l">
              <a:spcBef>
                <a:spcPts val="0"/>
              </a:spcBef>
              <a:spcAft>
                <a:spcPts val="0"/>
              </a:spcAft>
              <a:buSzPts val="1800"/>
              <a:buChar char="●"/>
            </a:pPr>
            <a:r>
              <a:rPr lang="id"/>
              <a:t>f-strings adalah cara terbaru dan paling direkomendasikan untuk string interpolation di Python, yaitu dengan menambah huruf f di awal ketika membuat string</a:t>
            </a:r>
            <a:endParaRPr/>
          </a:p>
          <a:p>
            <a:pPr indent="-342900" lvl="0" marL="457200" rtl="0" algn="l">
              <a:spcBef>
                <a:spcPts val="0"/>
              </a:spcBef>
              <a:spcAft>
                <a:spcPts val="0"/>
              </a:spcAft>
              <a:buSzPts val="1800"/>
              <a:buChar char="●"/>
            </a:pPr>
            <a:r>
              <a:rPr lang="id"/>
              <a:t>Selanjutnya di dalam nilai string, kita bisa menggunakan kurung kurawal untuk mengakses variabel lain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77" name="Google Shape;377;p66"/>
          <p:cNvPicPr preferRelativeResize="0"/>
          <p:nvPr/>
        </p:nvPicPr>
        <p:blipFill>
          <a:blip r:embed="rId3">
            <a:alphaModFix/>
          </a:blip>
          <a:stretch>
            <a:fillRect/>
          </a:stretch>
        </p:blipFill>
        <p:spPr>
          <a:xfrm>
            <a:off x="152400" y="1170125"/>
            <a:ext cx="8839200" cy="321528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f-strings dengan Expressions</a:t>
            </a:r>
            <a:endParaRPr/>
          </a:p>
        </p:txBody>
      </p:sp>
      <p:sp>
        <p:nvSpPr>
          <p:cNvPr id="383" name="Google Shape;383;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f-strings dapat mengeksekusi ekspresi langsung di dalamnya</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manipulasi_string.py</a:t>
            </a:r>
            <a:endParaRPr/>
          </a:p>
        </p:txBody>
      </p:sp>
      <p:pic>
        <p:nvPicPr>
          <p:cNvPr id="389" name="Google Shape;389;p68"/>
          <p:cNvPicPr preferRelativeResize="0"/>
          <p:nvPr/>
        </p:nvPicPr>
        <p:blipFill>
          <a:blip r:embed="rId3">
            <a:alphaModFix/>
          </a:blip>
          <a:stretch>
            <a:fillRect/>
          </a:stretch>
        </p:blipFill>
        <p:spPr>
          <a:xfrm>
            <a:off x="152400" y="1170125"/>
            <a:ext cx="8541816" cy="382097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9"/>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Operator</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Operator?</a:t>
            </a:r>
            <a:endParaRPr/>
          </a:p>
        </p:txBody>
      </p:sp>
      <p:sp>
        <p:nvSpPr>
          <p:cNvPr id="400" name="Google Shape;400;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Operator adalah simbol yang digunakan untuk melakukan operasi pada variabel dan nilai. Python memiliki beberapa jenis operator yang bisa kita gunakan untuk memanipulasi data.</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 Aritmatika</a:t>
            </a:r>
            <a:endParaRPr/>
          </a:p>
        </p:txBody>
      </p:sp>
      <p:sp>
        <p:nvSpPr>
          <p:cNvPr id="406" name="Google Shape;406;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Operator aritmatika digunakan untuk melakukan operasi matematika.</a:t>
            </a:r>
            <a:endParaRPr/>
          </a:p>
          <a:p>
            <a:pPr indent="-342900" lvl="0" marL="457200" rtl="0" algn="l">
              <a:spcBef>
                <a:spcPts val="0"/>
              </a:spcBef>
              <a:spcAft>
                <a:spcPts val="0"/>
              </a:spcAft>
              <a:buSzPts val="1800"/>
              <a:buChar char="●"/>
            </a:pPr>
            <a:r>
              <a:rPr lang="id"/>
              <a:t>Terdapat beberapa jenis operator aritmatika</a:t>
            </a:r>
            <a:endParaRPr/>
          </a:p>
          <a:p>
            <a:pPr indent="-342900" lvl="0" marL="457200" rtl="0" algn="l">
              <a:spcBef>
                <a:spcPts val="0"/>
              </a:spcBef>
              <a:spcAft>
                <a:spcPts val="0"/>
              </a:spcAft>
              <a:buSzPts val="1800"/>
              <a:buChar char="●"/>
            </a:pPr>
            <a:r>
              <a:rPr lang="id"/>
              <a:t>Operator dasar, seperti + (tambah), - (kurang), * (kali), / (bagi)</a:t>
            </a:r>
            <a:endParaRPr/>
          </a:p>
          <a:p>
            <a:pPr indent="-342900" lvl="0" marL="457200" rtl="0" algn="l">
              <a:spcBef>
                <a:spcPts val="0"/>
              </a:spcBef>
              <a:spcAft>
                <a:spcPts val="0"/>
              </a:spcAft>
              <a:buSzPts val="1800"/>
              <a:buChar char="●"/>
            </a:pPr>
            <a:r>
              <a:rPr lang="id"/>
              <a:t>Operator pembagian bulat dan modulo, seperti // (pembagian bulat), % (modulo, sisa pembagian)</a:t>
            </a:r>
            <a:endParaRPr/>
          </a:p>
          <a:p>
            <a:pPr indent="-342900" lvl="0" marL="457200" rtl="0" algn="l">
              <a:spcBef>
                <a:spcPts val="0"/>
              </a:spcBef>
              <a:spcAft>
                <a:spcPts val="0"/>
              </a:spcAft>
              <a:buSzPts val="1800"/>
              <a:buChar char="●"/>
            </a:pPr>
            <a:r>
              <a:rPr lang="id"/>
              <a:t>Operator pangkat, seperti ** (pangkat)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operator.py</a:t>
            </a:r>
            <a:endParaRPr/>
          </a:p>
        </p:txBody>
      </p:sp>
      <p:pic>
        <p:nvPicPr>
          <p:cNvPr id="412" name="Google Shape;412;p72"/>
          <p:cNvPicPr preferRelativeResize="0"/>
          <p:nvPr/>
        </p:nvPicPr>
        <p:blipFill>
          <a:blip r:embed="rId3">
            <a:alphaModFix/>
          </a:blip>
          <a:stretch>
            <a:fillRect/>
          </a:stretch>
        </p:blipFill>
        <p:spPr>
          <a:xfrm>
            <a:off x="152400" y="1170125"/>
            <a:ext cx="4381201" cy="2970875"/>
          </a:xfrm>
          <a:prstGeom prst="rect">
            <a:avLst/>
          </a:prstGeom>
          <a:noFill/>
          <a:ln>
            <a:noFill/>
          </a:ln>
        </p:spPr>
      </p:pic>
      <p:pic>
        <p:nvPicPr>
          <p:cNvPr id="413" name="Google Shape;413;p72"/>
          <p:cNvPicPr preferRelativeResize="0"/>
          <p:nvPr/>
        </p:nvPicPr>
        <p:blipFill>
          <a:blip r:embed="rId4">
            <a:alphaModFix/>
          </a:blip>
          <a:stretch>
            <a:fillRect/>
          </a:stretch>
        </p:blipFill>
        <p:spPr>
          <a:xfrm>
            <a:off x="4686001" y="1170125"/>
            <a:ext cx="4305598" cy="191465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 Assignment (Penugasan)</a:t>
            </a:r>
            <a:endParaRPr/>
          </a:p>
        </p:txBody>
      </p:sp>
      <p:sp>
        <p:nvSpPr>
          <p:cNvPr id="419" name="Google Shape;419;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Operator assignment digunakan untuk memberikan nilai pada variabel, seperti yang sudah pernah kita bahas, menggunakan tanda = (sama dengan)</a:t>
            </a:r>
            <a:endParaRPr/>
          </a:p>
          <a:p>
            <a:pPr indent="-342900" lvl="0" marL="457200" rtl="0" algn="l">
              <a:spcBef>
                <a:spcPts val="0"/>
              </a:spcBef>
              <a:spcAft>
                <a:spcPts val="0"/>
              </a:spcAft>
              <a:buSzPts val="1800"/>
              <a:buChar char="●"/>
            </a:pPr>
            <a:r>
              <a:rPr lang="id"/>
              <a:t>Compound Assignment, yaitu operator yang menggabungkan operasi aritmatika dengan assignment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operator.py</a:t>
            </a:r>
            <a:endParaRPr/>
          </a:p>
        </p:txBody>
      </p:sp>
      <p:pic>
        <p:nvPicPr>
          <p:cNvPr id="425" name="Google Shape;425;p74"/>
          <p:cNvPicPr preferRelativeResize="0"/>
          <p:nvPr/>
        </p:nvPicPr>
        <p:blipFill>
          <a:blip r:embed="rId3">
            <a:alphaModFix/>
          </a:blip>
          <a:stretch>
            <a:fillRect/>
          </a:stretch>
        </p:blipFill>
        <p:spPr>
          <a:xfrm>
            <a:off x="152400" y="1170125"/>
            <a:ext cx="6678203" cy="38209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 Perbandingan</a:t>
            </a:r>
            <a:endParaRPr/>
          </a:p>
        </p:txBody>
      </p:sp>
      <p:sp>
        <p:nvSpPr>
          <p:cNvPr id="431" name="Google Shape;431;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Operator perbandingan digunakan untuk membandingkan dua nilai. Hasil dari operasi ini adalah True atau False.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operator.py</a:t>
            </a:r>
            <a:endParaRPr/>
          </a:p>
        </p:txBody>
      </p:sp>
      <p:pic>
        <p:nvPicPr>
          <p:cNvPr id="437" name="Google Shape;437;p76"/>
          <p:cNvPicPr preferRelativeResize="0"/>
          <p:nvPr/>
        </p:nvPicPr>
        <p:blipFill>
          <a:blip r:embed="rId3">
            <a:alphaModFix/>
          </a:blip>
          <a:stretch>
            <a:fillRect/>
          </a:stretch>
        </p:blipFill>
        <p:spPr>
          <a:xfrm>
            <a:off x="152400" y="1170125"/>
            <a:ext cx="6595590" cy="38209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 Logika</a:t>
            </a:r>
            <a:endParaRPr/>
          </a:p>
        </p:txBody>
      </p:sp>
      <p:sp>
        <p:nvSpPr>
          <p:cNvPr id="443" name="Google Shape;443;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Operator logika digunakan untuk menggabungkan atau memodifikasi nilai boolean.</a:t>
            </a:r>
            <a:endParaRPr/>
          </a:p>
          <a:p>
            <a:pPr indent="-342900" lvl="0" marL="457200" rtl="0" algn="l">
              <a:spcBef>
                <a:spcPts val="0"/>
              </a:spcBef>
              <a:spcAft>
                <a:spcPts val="0"/>
              </a:spcAft>
              <a:buSzPts val="1800"/>
              <a:buChar char="●"/>
            </a:pPr>
            <a:r>
              <a:rPr lang="id"/>
              <a:t>and (dan), menghasilkan True jika kedua kondisi True</a:t>
            </a:r>
            <a:endParaRPr/>
          </a:p>
          <a:p>
            <a:pPr indent="-342900" lvl="0" marL="457200" rtl="0" algn="l">
              <a:spcBef>
                <a:spcPts val="0"/>
              </a:spcBef>
              <a:spcAft>
                <a:spcPts val="0"/>
              </a:spcAft>
              <a:buSzPts val="1800"/>
              <a:buChar char="●"/>
            </a:pPr>
            <a:r>
              <a:rPr lang="id"/>
              <a:t>or (atau), menghasilkan True jika salah satu kondisi True</a:t>
            </a:r>
            <a:endParaRPr/>
          </a:p>
          <a:p>
            <a:pPr indent="-342900" lvl="0" marL="457200" rtl="0" algn="l">
              <a:spcBef>
                <a:spcPts val="0"/>
              </a:spcBef>
              <a:spcAft>
                <a:spcPts val="0"/>
              </a:spcAft>
              <a:buSzPts val="1800"/>
              <a:buChar char="●"/>
            </a:pPr>
            <a:r>
              <a:rPr lang="id"/>
              <a:t>not (tidak), membalik nilai boolean</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operator.py</a:t>
            </a:r>
            <a:endParaRPr/>
          </a:p>
        </p:txBody>
      </p:sp>
      <p:pic>
        <p:nvPicPr>
          <p:cNvPr id="449" name="Google Shape;449;p78"/>
          <p:cNvPicPr preferRelativeResize="0"/>
          <p:nvPr/>
        </p:nvPicPr>
        <p:blipFill>
          <a:blip r:embed="rId3">
            <a:alphaModFix/>
          </a:blip>
          <a:stretch>
            <a:fillRect/>
          </a:stretch>
        </p:blipFill>
        <p:spPr>
          <a:xfrm>
            <a:off x="152400" y="1170125"/>
            <a:ext cx="8839200" cy="353568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 String</a:t>
            </a:r>
            <a:endParaRPr/>
          </a:p>
        </p:txBody>
      </p:sp>
      <p:sp>
        <p:nvSpPr>
          <p:cNvPr id="455" name="Google Shape;455;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Operator khusus untuk bekerja dengan string.</a:t>
            </a:r>
            <a:endParaRPr/>
          </a:p>
          <a:p>
            <a:pPr indent="-342900" lvl="0" marL="457200" rtl="0" algn="l">
              <a:spcBef>
                <a:spcPts val="0"/>
              </a:spcBef>
              <a:spcAft>
                <a:spcPts val="0"/>
              </a:spcAft>
              <a:buSzPts val="1800"/>
              <a:buChar char="●"/>
            </a:pPr>
            <a:r>
              <a:rPr lang="id"/>
              <a:t>Concatenation (+), menambah string</a:t>
            </a:r>
            <a:endParaRPr/>
          </a:p>
          <a:p>
            <a:pPr indent="-342900" lvl="0" marL="457200" rtl="0" algn="l">
              <a:spcBef>
                <a:spcPts val="0"/>
              </a:spcBef>
              <a:spcAft>
                <a:spcPts val="0"/>
              </a:spcAft>
              <a:buSzPts val="1800"/>
              <a:buChar char="●"/>
            </a:pPr>
            <a:r>
              <a:rPr lang="id"/>
              <a:t>Repetition (*), mengulang string sejumlah angka</a:t>
            </a:r>
            <a:endParaRPr/>
          </a:p>
          <a:p>
            <a:pPr indent="-342900" lvl="0" marL="457200" rtl="0" algn="l">
              <a:spcBef>
                <a:spcPts val="0"/>
              </a:spcBef>
              <a:spcAft>
                <a:spcPts val="0"/>
              </a:spcAft>
              <a:buSzPts val="1800"/>
              <a:buChar char="●"/>
            </a:pPr>
            <a:r>
              <a:rPr lang="id"/>
              <a:t>Membership (in), mengecek apakah text ada dalam string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operator.py</a:t>
            </a:r>
            <a:endParaRPr/>
          </a:p>
        </p:txBody>
      </p:sp>
      <p:pic>
        <p:nvPicPr>
          <p:cNvPr id="461" name="Google Shape;461;p80"/>
          <p:cNvPicPr preferRelativeResize="0"/>
          <p:nvPr/>
        </p:nvPicPr>
        <p:blipFill>
          <a:blip r:embed="rId3">
            <a:alphaModFix/>
          </a:blip>
          <a:stretch>
            <a:fillRect/>
          </a:stretch>
        </p:blipFill>
        <p:spPr>
          <a:xfrm>
            <a:off x="152400" y="1170125"/>
            <a:ext cx="6435888" cy="38209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Operator memiliki urutan prioritas (precedence). Operator dengan prioritas lebih tinggi akan dieksekusi terlebih dahulu</a:t>
            </a:r>
            <a:endParaRPr/>
          </a:p>
          <a:p>
            <a:pPr indent="-342900" lvl="0" marL="457200" rtl="0" algn="l">
              <a:spcBef>
                <a:spcPts val="0"/>
              </a:spcBef>
              <a:spcAft>
                <a:spcPts val="0"/>
              </a:spcAft>
              <a:buSzPts val="1800"/>
              <a:buChar char="●"/>
            </a:pPr>
            <a:r>
              <a:rPr lang="id"/>
              <a:t>Urutan Prioritas (dari tinggi ke rendah):</a:t>
            </a:r>
            <a:endParaRPr/>
          </a:p>
          <a:p>
            <a:pPr indent="-317500" lvl="1" marL="914400" rtl="0" algn="l">
              <a:spcBef>
                <a:spcPts val="0"/>
              </a:spcBef>
              <a:spcAft>
                <a:spcPts val="0"/>
              </a:spcAft>
              <a:buSzPts val="1400"/>
              <a:buChar char="○"/>
            </a:pPr>
            <a:r>
              <a:rPr lang="id"/>
              <a:t>** (pangkat)</a:t>
            </a:r>
            <a:endParaRPr/>
          </a:p>
          <a:p>
            <a:pPr indent="-317500" lvl="1" marL="914400" rtl="0" algn="l">
              <a:spcBef>
                <a:spcPts val="0"/>
              </a:spcBef>
              <a:spcAft>
                <a:spcPts val="0"/>
              </a:spcAft>
              <a:buSzPts val="1400"/>
              <a:buChar char="○"/>
            </a:pPr>
            <a:r>
              <a:rPr lang="id"/>
              <a:t>*, /, //, % (perkalian, pembagian)</a:t>
            </a:r>
            <a:endParaRPr/>
          </a:p>
          <a:p>
            <a:pPr indent="-317500" lvl="1" marL="914400" rtl="0" algn="l">
              <a:spcBef>
                <a:spcPts val="0"/>
              </a:spcBef>
              <a:spcAft>
                <a:spcPts val="0"/>
              </a:spcAft>
              <a:buSzPts val="1400"/>
              <a:buChar char="○"/>
            </a:pPr>
            <a:r>
              <a:rPr lang="id"/>
              <a:t>+, - (penjumlahan, pengurangan)</a:t>
            </a:r>
            <a:endParaRPr/>
          </a:p>
          <a:p>
            <a:pPr indent="-317500" lvl="1" marL="914400" rtl="0" algn="l">
              <a:spcBef>
                <a:spcPts val="0"/>
              </a:spcBef>
              <a:spcAft>
                <a:spcPts val="0"/>
              </a:spcAft>
              <a:buSzPts val="1400"/>
              <a:buChar char="○"/>
            </a:pPr>
            <a:r>
              <a:rPr lang="id"/>
              <a:t>==, !=, &lt;, &gt;, &lt;=, &gt;= (perbandingan)</a:t>
            </a:r>
            <a:endParaRPr/>
          </a:p>
          <a:p>
            <a:pPr indent="-317500" lvl="1" marL="914400" rtl="0" algn="l">
              <a:spcBef>
                <a:spcPts val="0"/>
              </a:spcBef>
              <a:spcAft>
                <a:spcPts val="0"/>
              </a:spcAft>
              <a:buSzPts val="1400"/>
              <a:buChar char="○"/>
            </a:pPr>
            <a:r>
              <a:rPr lang="id"/>
              <a:t>not (logika not)</a:t>
            </a:r>
            <a:endParaRPr/>
          </a:p>
          <a:p>
            <a:pPr indent="-317500" lvl="1" marL="914400" rtl="0" algn="l">
              <a:spcBef>
                <a:spcPts val="0"/>
              </a:spcBef>
              <a:spcAft>
                <a:spcPts val="0"/>
              </a:spcAft>
              <a:buSzPts val="1400"/>
              <a:buChar char="○"/>
            </a:pPr>
            <a:r>
              <a:rPr lang="id"/>
              <a:t>and (logika and)</a:t>
            </a:r>
            <a:endParaRPr/>
          </a:p>
          <a:p>
            <a:pPr indent="-317500" lvl="1" marL="914400" rtl="0" algn="l">
              <a:spcBef>
                <a:spcPts val="0"/>
              </a:spcBef>
              <a:spcAft>
                <a:spcPts val="0"/>
              </a:spcAft>
              <a:buSzPts val="1400"/>
              <a:buChar char="○"/>
            </a:pPr>
            <a:r>
              <a:rPr lang="id"/>
              <a:t>or (logika or)</a:t>
            </a:r>
            <a:endParaRPr/>
          </a:p>
        </p:txBody>
      </p:sp>
      <p:sp>
        <p:nvSpPr>
          <p:cNvPr id="467" name="Google Shape;467;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Prioritas Operator</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82"/>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Kontrol Alur Program</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Kontrol Alur Program?</a:t>
            </a:r>
            <a:endParaRPr/>
          </a:p>
        </p:txBody>
      </p:sp>
      <p:sp>
        <p:nvSpPr>
          <p:cNvPr id="478" name="Google Shape;478;p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Kontrol alur program adalah cara untuk mengatur jalannya program berdasarkan kondisi tertentu. </a:t>
            </a:r>
            <a:endParaRPr/>
          </a:p>
          <a:p>
            <a:pPr indent="-342900" lvl="0" marL="457200" rtl="0" algn="l">
              <a:spcBef>
                <a:spcPts val="0"/>
              </a:spcBef>
              <a:spcAft>
                <a:spcPts val="0"/>
              </a:spcAft>
              <a:buSzPts val="1800"/>
              <a:buChar char="●"/>
            </a:pPr>
            <a:r>
              <a:rPr lang="id"/>
              <a:t>Dengan kontrol alur, program bisa mengambil keputusan dan melakukan tindakan yang berbeda tergantung pada situasi.</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Pernyataan If</a:t>
            </a:r>
            <a:endParaRPr/>
          </a:p>
        </p:txBody>
      </p:sp>
      <p:sp>
        <p:nvSpPr>
          <p:cNvPr id="484" name="Google Shape;484;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Pernyataan if digunakan untuk menjalankan kode hanya jika kondisi tertentu bernilai True.</a:t>
            </a:r>
            <a:endParaRPr/>
          </a:p>
          <a:p>
            <a:pPr indent="-342900" lvl="0" marL="457200" rtl="0" algn="l">
              <a:spcBef>
                <a:spcPts val="0"/>
              </a:spcBef>
              <a:spcAft>
                <a:spcPts val="0"/>
              </a:spcAft>
              <a:buSzPts val="1800"/>
              <a:buChar char="●"/>
            </a:pPr>
            <a:r>
              <a:rPr lang="id"/>
              <a:t>Setelah if, harus ada : (</a:t>
            </a:r>
            <a:r>
              <a:rPr lang="id"/>
              <a:t>titik dua)</a:t>
            </a:r>
            <a:endParaRPr/>
          </a:p>
          <a:p>
            <a:pPr indent="-342900" lvl="0" marL="457200" rtl="0" algn="l">
              <a:spcBef>
                <a:spcPts val="0"/>
              </a:spcBef>
              <a:spcAft>
                <a:spcPts val="0"/>
              </a:spcAft>
              <a:buSzPts val="1800"/>
              <a:buChar char="●"/>
            </a:pPr>
            <a:r>
              <a:rPr lang="id"/>
              <a:t>Kode yang akan dijalankan jika kondisi True harus diindentasi (diberi spasi di awal)</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if.py</a:t>
            </a:r>
            <a:endParaRPr/>
          </a:p>
        </p:txBody>
      </p:sp>
      <p:pic>
        <p:nvPicPr>
          <p:cNvPr id="490" name="Google Shape;490;p85"/>
          <p:cNvPicPr preferRelativeResize="0"/>
          <p:nvPr/>
        </p:nvPicPr>
        <p:blipFill>
          <a:blip r:embed="rId3">
            <a:alphaModFix/>
          </a:blip>
          <a:stretch>
            <a:fillRect/>
          </a:stretch>
        </p:blipFill>
        <p:spPr>
          <a:xfrm>
            <a:off x="152400" y="1170125"/>
            <a:ext cx="8839197" cy="371246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Pernyataan if-else</a:t>
            </a:r>
            <a:endParaRPr/>
          </a:p>
        </p:txBody>
      </p:sp>
      <p:sp>
        <p:nvSpPr>
          <p:cNvPr id="496" name="Google Shape;496;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if-else digunakan ketika kita ingin menjalankan kode yang berbeda untuk kondisi True dan False.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if_else.py</a:t>
            </a:r>
            <a:endParaRPr/>
          </a:p>
        </p:txBody>
      </p:sp>
      <p:pic>
        <p:nvPicPr>
          <p:cNvPr id="502" name="Google Shape;502;p87"/>
          <p:cNvPicPr preferRelativeResize="0"/>
          <p:nvPr/>
        </p:nvPicPr>
        <p:blipFill>
          <a:blip r:embed="rId3">
            <a:alphaModFix/>
          </a:blip>
          <a:stretch>
            <a:fillRect/>
          </a:stretch>
        </p:blipFill>
        <p:spPr>
          <a:xfrm>
            <a:off x="152400" y="1170125"/>
            <a:ext cx="8839199" cy="347711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Pernyataan elif</a:t>
            </a:r>
            <a:endParaRPr/>
          </a:p>
        </p:txBody>
      </p:sp>
      <p:sp>
        <p:nvSpPr>
          <p:cNvPr id="508" name="Google Shape;508;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elif (else if) digunakan untuk mengecek beberapa kondisi secara berurutan.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elif.py</a:t>
            </a:r>
            <a:endParaRPr/>
          </a:p>
        </p:txBody>
      </p:sp>
      <p:pic>
        <p:nvPicPr>
          <p:cNvPr id="514" name="Google Shape;514;p89"/>
          <p:cNvPicPr preferRelativeResize="0"/>
          <p:nvPr/>
        </p:nvPicPr>
        <p:blipFill>
          <a:blip r:embed="rId3">
            <a:alphaModFix/>
          </a:blip>
          <a:stretch>
            <a:fillRect/>
          </a:stretch>
        </p:blipFill>
        <p:spPr>
          <a:xfrm>
            <a:off x="152400" y="1170125"/>
            <a:ext cx="5581739" cy="382097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Kondisi dengan Operator Logika</a:t>
            </a:r>
            <a:endParaRPr/>
          </a:p>
        </p:txBody>
      </p:sp>
      <p:sp>
        <p:nvSpPr>
          <p:cNvPr id="520" name="Google Shape;520;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Karena kondisi harus bernilai boolean, artinya kita bisa menggunakan operator, misal operator logika, seperti and, or dan not</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operator_logika.py</a:t>
            </a:r>
            <a:endParaRPr/>
          </a:p>
        </p:txBody>
      </p:sp>
      <p:pic>
        <p:nvPicPr>
          <p:cNvPr id="526" name="Google Shape;526;p91"/>
          <p:cNvPicPr preferRelativeResize="0"/>
          <p:nvPr/>
        </p:nvPicPr>
        <p:blipFill>
          <a:blip r:embed="rId3">
            <a:alphaModFix/>
          </a:blip>
          <a:stretch>
            <a:fillRect/>
          </a:stretch>
        </p:blipFill>
        <p:spPr>
          <a:xfrm>
            <a:off x="152400" y="1170125"/>
            <a:ext cx="8839200" cy="3672988"/>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 if (if Bersarang)</a:t>
            </a:r>
            <a:endParaRPr/>
          </a:p>
        </p:txBody>
      </p:sp>
      <p:sp>
        <p:nvSpPr>
          <p:cNvPr id="532" name="Google Shape;532;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Kita bisa menempatkan if di dalam if yang lain</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nested_if.py</a:t>
            </a:r>
            <a:endParaRPr/>
          </a:p>
        </p:txBody>
      </p:sp>
      <p:pic>
        <p:nvPicPr>
          <p:cNvPr id="538" name="Google Shape;538;p93"/>
          <p:cNvPicPr preferRelativeResize="0"/>
          <p:nvPr/>
        </p:nvPicPr>
        <p:blipFill>
          <a:blip r:embed="rId3">
            <a:alphaModFix/>
          </a:blip>
          <a:stretch>
            <a:fillRect/>
          </a:stretch>
        </p:blipFill>
        <p:spPr>
          <a:xfrm>
            <a:off x="152400" y="1170125"/>
            <a:ext cx="6833416" cy="38209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Pernyataan Match Case</a:t>
            </a:r>
            <a:endParaRPr/>
          </a:p>
        </p:txBody>
      </p:sp>
      <p:sp>
        <p:nvSpPr>
          <p:cNvPr id="544" name="Google Shape;544;p9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match-case adalah fitur alternatif yang lebih bersih untuk elif yang banyak</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9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match_case.py</a:t>
            </a:r>
            <a:endParaRPr/>
          </a:p>
        </p:txBody>
      </p:sp>
      <p:pic>
        <p:nvPicPr>
          <p:cNvPr id="550" name="Google Shape;550;p95"/>
          <p:cNvPicPr preferRelativeResize="0"/>
          <p:nvPr/>
        </p:nvPicPr>
        <p:blipFill>
          <a:blip r:embed="rId3">
            <a:alphaModFix/>
          </a:blip>
          <a:stretch>
            <a:fillRect/>
          </a:stretch>
        </p:blipFill>
        <p:spPr>
          <a:xfrm>
            <a:off x="152400" y="1170125"/>
            <a:ext cx="8839199" cy="3708652"/>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Conditional Expression (Ternary Operator)</a:t>
            </a:r>
            <a:endParaRPr/>
          </a:p>
        </p:txBody>
      </p:sp>
      <p:sp>
        <p:nvSpPr>
          <p:cNvPr id="556" name="Google Shape;556;p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Conditional expression memungkinkan kita menulis kondisi sederhana dalam satu baris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conditional_expression.py</a:t>
            </a:r>
            <a:endParaRPr/>
          </a:p>
        </p:txBody>
      </p:sp>
      <p:pic>
        <p:nvPicPr>
          <p:cNvPr id="562" name="Google Shape;562;p97"/>
          <p:cNvPicPr preferRelativeResize="0"/>
          <p:nvPr/>
        </p:nvPicPr>
        <p:blipFill>
          <a:blip r:embed="rId3">
            <a:alphaModFix/>
          </a:blip>
          <a:stretch>
            <a:fillRect/>
          </a:stretch>
        </p:blipFill>
        <p:spPr>
          <a:xfrm>
            <a:off x="152400" y="1170125"/>
            <a:ext cx="6958197" cy="38209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8"/>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Perulangan</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Perulangan?</a:t>
            </a:r>
            <a:endParaRPr/>
          </a:p>
        </p:txBody>
      </p:sp>
      <p:sp>
        <p:nvSpPr>
          <p:cNvPr id="573" name="Google Shape;573;p9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Perulangan (loop) adalah cara untuk menjalankan kode yang sama berulang kali. </a:t>
            </a:r>
            <a:endParaRPr/>
          </a:p>
          <a:p>
            <a:pPr indent="-342900" lvl="0" marL="457200" rtl="0" algn="l">
              <a:spcBef>
                <a:spcPts val="0"/>
              </a:spcBef>
              <a:spcAft>
                <a:spcPts val="0"/>
              </a:spcAft>
              <a:buSzPts val="1800"/>
              <a:buChar char="●"/>
            </a:pPr>
            <a:r>
              <a:rPr lang="id"/>
              <a:t>Dengan perulangan, kita bisa menghemat waktu dan membuat kode lebih efisien daripada menulis kode yang sama berkali-kali.</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For Loop</a:t>
            </a:r>
            <a:endParaRPr/>
          </a:p>
        </p:txBody>
      </p:sp>
      <p:sp>
        <p:nvSpPr>
          <p:cNvPr id="579" name="Google Shape;579;p10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For loop digunakan untuk mengulang kode sejumlah tertentu atau mengiterasi melalui sekumpulan data.</a:t>
            </a:r>
            <a:endParaRPr/>
          </a:p>
          <a:p>
            <a:pPr indent="-342900" lvl="0" marL="457200" rtl="0" algn="l">
              <a:spcBef>
                <a:spcPts val="0"/>
              </a:spcBef>
              <a:spcAft>
                <a:spcPts val="0"/>
              </a:spcAft>
              <a:buSzPts val="1800"/>
              <a:buChar char="●"/>
            </a:pPr>
            <a:r>
              <a:rPr lang="id"/>
              <a:t>For Loop biasanya menggunakan function range() untuk membuat urutan angka untuk perulangannya</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for_range.py</a:t>
            </a:r>
            <a:endParaRPr/>
          </a:p>
        </p:txBody>
      </p:sp>
      <p:pic>
        <p:nvPicPr>
          <p:cNvPr id="585" name="Google Shape;585;p101"/>
          <p:cNvPicPr preferRelativeResize="0"/>
          <p:nvPr/>
        </p:nvPicPr>
        <p:blipFill>
          <a:blip r:embed="rId3">
            <a:alphaModFix/>
          </a:blip>
          <a:stretch>
            <a:fillRect/>
          </a:stretch>
        </p:blipFill>
        <p:spPr>
          <a:xfrm>
            <a:off x="152400" y="1170125"/>
            <a:ext cx="5829435" cy="382097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10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For Loop dengan String</a:t>
            </a:r>
            <a:endParaRPr/>
          </a:p>
        </p:txBody>
      </p:sp>
      <p:sp>
        <p:nvSpPr>
          <p:cNvPr id="591" name="Google Shape;591;p10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For loop juga bisa digunakan untuk mengiterasi setiap karakter dalam string</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10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for_string.py</a:t>
            </a:r>
            <a:endParaRPr/>
          </a:p>
        </p:txBody>
      </p:sp>
      <p:pic>
        <p:nvPicPr>
          <p:cNvPr id="597" name="Google Shape;597;p103"/>
          <p:cNvPicPr preferRelativeResize="0"/>
          <p:nvPr/>
        </p:nvPicPr>
        <p:blipFill>
          <a:blip r:embed="rId3">
            <a:alphaModFix/>
          </a:blip>
          <a:stretch>
            <a:fillRect/>
          </a:stretch>
        </p:blipFill>
        <p:spPr>
          <a:xfrm>
            <a:off x="152400" y="1170125"/>
            <a:ext cx="8839199" cy="375666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While Loop</a:t>
            </a:r>
            <a:endParaRPr/>
          </a:p>
        </p:txBody>
      </p:sp>
      <p:sp>
        <p:nvSpPr>
          <p:cNvPr id="603" name="Google Shape;603;p10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While loop mengulang kode selama kondisi tertentu masih True.</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while_loop.py</a:t>
            </a:r>
            <a:endParaRPr/>
          </a:p>
        </p:txBody>
      </p:sp>
      <p:pic>
        <p:nvPicPr>
          <p:cNvPr id="609" name="Google Shape;609;p105"/>
          <p:cNvPicPr preferRelativeResize="0"/>
          <p:nvPr/>
        </p:nvPicPr>
        <p:blipFill>
          <a:blip r:embed="rId3">
            <a:alphaModFix/>
          </a:blip>
          <a:stretch>
            <a:fillRect/>
          </a:stretch>
        </p:blipFill>
        <p:spPr>
          <a:xfrm>
            <a:off x="152400" y="1170125"/>
            <a:ext cx="6305164" cy="382097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Break dan Continue</a:t>
            </a:r>
            <a:endParaRPr/>
          </a:p>
        </p:txBody>
      </p:sp>
      <p:sp>
        <p:nvSpPr>
          <p:cNvPr id="615" name="Google Shape;615;p10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break digunakan untuk keluar dari perulangan</a:t>
            </a:r>
            <a:endParaRPr/>
          </a:p>
          <a:p>
            <a:pPr indent="-342900" lvl="0" marL="457200" rtl="0" algn="l">
              <a:spcBef>
                <a:spcPts val="0"/>
              </a:spcBef>
              <a:spcAft>
                <a:spcPts val="0"/>
              </a:spcAft>
              <a:buSzPts val="1800"/>
              <a:buChar char="●"/>
            </a:pPr>
            <a:r>
              <a:rPr lang="id"/>
              <a:t>continue digunakan untuk melanjutkan ke iterasi berikutnya</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0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break.py</a:t>
            </a:r>
            <a:endParaRPr/>
          </a:p>
        </p:txBody>
      </p:sp>
      <p:pic>
        <p:nvPicPr>
          <p:cNvPr id="621" name="Google Shape;621;p107"/>
          <p:cNvPicPr preferRelativeResize="0"/>
          <p:nvPr/>
        </p:nvPicPr>
        <p:blipFill>
          <a:blip r:embed="rId3">
            <a:alphaModFix/>
          </a:blip>
          <a:stretch>
            <a:fillRect/>
          </a:stretch>
        </p:blipFill>
        <p:spPr>
          <a:xfrm>
            <a:off x="152400" y="1170125"/>
            <a:ext cx="8121283" cy="382097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0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continue.py</a:t>
            </a:r>
            <a:endParaRPr/>
          </a:p>
        </p:txBody>
      </p:sp>
      <p:pic>
        <p:nvPicPr>
          <p:cNvPr id="627" name="Google Shape;627;p108"/>
          <p:cNvPicPr preferRelativeResize="0"/>
          <p:nvPr/>
        </p:nvPicPr>
        <p:blipFill>
          <a:blip r:embed="rId3">
            <a:alphaModFix/>
          </a:blip>
          <a:stretch>
            <a:fillRect/>
          </a:stretch>
        </p:blipFill>
        <p:spPr>
          <a:xfrm>
            <a:off x="152400" y="1170125"/>
            <a:ext cx="8839201" cy="2722277"/>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10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Loop dengan Else</a:t>
            </a:r>
            <a:endParaRPr/>
          </a:p>
        </p:txBody>
      </p:sp>
      <p:sp>
        <p:nvSpPr>
          <p:cNvPr id="633" name="Google Shape;633;p10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Python memiliki fitur unik dimana loop bisa memiliki clause else yang dieksekusi jika loop selesai secara normal (tidak dengan break).</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for_else.py</a:t>
            </a:r>
            <a:endParaRPr/>
          </a:p>
        </p:txBody>
      </p:sp>
      <p:pic>
        <p:nvPicPr>
          <p:cNvPr id="639" name="Google Shape;639;p110"/>
          <p:cNvPicPr preferRelativeResize="0"/>
          <p:nvPr/>
        </p:nvPicPr>
        <p:blipFill>
          <a:blip r:embed="rId3">
            <a:alphaModFix/>
          </a:blip>
          <a:stretch>
            <a:fillRect/>
          </a:stretch>
        </p:blipFill>
        <p:spPr>
          <a:xfrm>
            <a:off x="152400" y="1170125"/>
            <a:ext cx="8283428" cy="382097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while_else.py</a:t>
            </a:r>
            <a:endParaRPr/>
          </a:p>
        </p:txBody>
      </p:sp>
      <p:pic>
        <p:nvPicPr>
          <p:cNvPr id="645" name="Google Shape;645;p111"/>
          <p:cNvPicPr preferRelativeResize="0"/>
          <p:nvPr/>
        </p:nvPicPr>
        <p:blipFill>
          <a:blip r:embed="rId3">
            <a:alphaModFix/>
          </a:blip>
          <a:stretch>
            <a:fillRect/>
          </a:stretch>
        </p:blipFill>
        <p:spPr>
          <a:xfrm>
            <a:off x="152400" y="1170125"/>
            <a:ext cx="6804882" cy="3820976"/>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1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Perulangan Bersarang (Nested Loop)</a:t>
            </a:r>
            <a:endParaRPr/>
          </a:p>
        </p:txBody>
      </p:sp>
      <p:sp>
        <p:nvSpPr>
          <p:cNvPr id="651" name="Google Shape;651;p11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Kita bisa menempatkan perulangan di dalam perulangan</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nested_loop.py</a:t>
            </a:r>
            <a:endParaRPr/>
          </a:p>
        </p:txBody>
      </p:sp>
      <p:pic>
        <p:nvPicPr>
          <p:cNvPr id="657" name="Google Shape;657;p113"/>
          <p:cNvPicPr preferRelativeResize="0"/>
          <p:nvPr/>
        </p:nvPicPr>
        <p:blipFill>
          <a:blip r:embed="rId3">
            <a:alphaModFix/>
          </a:blip>
          <a:stretch>
            <a:fillRect/>
          </a:stretch>
        </p:blipFill>
        <p:spPr>
          <a:xfrm>
            <a:off x="152400" y="1170125"/>
            <a:ext cx="8839199" cy="3596516"/>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4"/>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Struktur Data</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1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Struktur Data?</a:t>
            </a:r>
            <a:endParaRPr/>
          </a:p>
        </p:txBody>
      </p:sp>
      <p:sp>
        <p:nvSpPr>
          <p:cNvPr id="668" name="Google Shape;668;p1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Data structures (struktur data) adalah cara untuk menyimpan dan mengorganisir data dalam program. </a:t>
            </a:r>
            <a:endParaRPr/>
          </a:p>
          <a:p>
            <a:pPr indent="-342900" lvl="0" marL="457200" rtl="0" algn="l">
              <a:spcBef>
                <a:spcPts val="0"/>
              </a:spcBef>
              <a:spcAft>
                <a:spcPts val="0"/>
              </a:spcAft>
              <a:buSzPts val="1800"/>
              <a:buChar char="●"/>
            </a:pPr>
            <a:r>
              <a:rPr lang="id"/>
              <a:t>Sejauh ini kita sudah belajar menyimpan satu nilai dalam satu variabel. </a:t>
            </a:r>
            <a:endParaRPr/>
          </a:p>
          <a:p>
            <a:pPr indent="-342900" lvl="0" marL="457200" rtl="0" algn="l">
              <a:spcBef>
                <a:spcPts val="0"/>
              </a:spcBef>
              <a:spcAft>
                <a:spcPts val="0"/>
              </a:spcAft>
              <a:buSzPts val="1800"/>
              <a:buChar char="●"/>
            </a:pPr>
            <a:r>
              <a:rPr lang="id"/>
              <a:t>Sekarang kita akan belajar cara menyimpan banyak nilai sekaligus.</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List (Daftar)</a:t>
            </a:r>
            <a:endParaRPr/>
          </a:p>
        </p:txBody>
      </p:sp>
      <p:sp>
        <p:nvSpPr>
          <p:cNvPr id="674" name="Google Shape;674;p1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List adalah kumpulan data yang bisa menyimpan banyak nilai dalam satu variabel. List ditulis dengan menggunakan kurung siku [].</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list.py</a:t>
            </a:r>
            <a:endParaRPr/>
          </a:p>
        </p:txBody>
      </p:sp>
      <p:pic>
        <p:nvPicPr>
          <p:cNvPr id="680" name="Google Shape;680;p117"/>
          <p:cNvPicPr preferRelativeResize="0"/>
          <p:nvPr/>
        </p:nvPicPr>
        <p:blipFill>
          <a:blip r:embed="rId3">
            <a:alphaModFix/>
          </a:blip>
          <a:stretch>
            <a:fillRect/>
          </a:stretch>
        </p:blipFill>
        <p:spPr>
          <a:xfrm>
            <a:off x="152400" y="1170125"/>
            <a:ext cx="6255481" cy="382097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Manipulasi List</a:t>
            </a:r>
            <a:endParaRPr/>
          </a:p>
        </p:txBody>
      </p:sp>
      <p:sp>
        <p:nvSpPr>
          <p:cNvPr id="686" name="Google Shape;686;p1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Mengakses list, sama seperti string, list menggunakan index yang dimulai dari 0</a:t>
            </a:r>
            <a:endParaRPr/>
          </a:p>
          <a:p>
            <a:pPr indent="-342900" lvl="0" marL="457200" rtl="0" algn="l">
              <a:spcBef>
                <a:spcPts val="0"/>
              </a:spcBef>
              <a:spcAft>
                <a:spcPts val="0"/>
              </a:spcAft>
              <a:buSzPts val="1800"/>
              <a:buChar char="●"/>
            </a:pPr>
            <a:r>
              <a:rPr lang="id"/>
              <a:t>Mengubah Elemen List, bisa menggunakan index dan ubah seperti mengubah variabel</a:t>
            </a:r>
            <a:endParaRPr/>
          </a:p>
          <a:p>
            <a:pPr indent="-342900" lvl="0" marL="457200" rtl="0" algn="l">
              <a:spcBef>
                <a:spcPts val="0"/>
              </a:spcBef>
              <a:spcAft>
                <a:spcPts val="0"/>
              </a:spcAft>
              <a:buSzPts val="1800"/>
              <a:buChar char="●"/>
            </a:pPr>
            <a:r>
              <a:rPr lang="id"/>
              <a:t>Menambah Elemen ke List, bisa menggunakan method append(data) untuk menambah diakhir, dan insert(index, data) untuk menambah setelah index</a:t>
            </a:r>
            <a:endParaRPr/>
          </a:p>
          <a:p>
            <a:pPr indent="-342900" lvl="0" marL="457200" rtl="0" algn="l">
              <a:spcBef>
                <a:spcPts val="0"/>
              </a:spcBef>
              <a:spcAft>
                <a:spcPts val="0"/>
              </a:spcAft>
              <a:buSzPts val="1800"/>
              <a:buChar char="●"/>
            </a:pPr>
            <a:r>
              <a:rPr lang="id"/>
              <a:t>Menghapus Elemen dari List, bisa menggunakan method remove(index), atau method pop() untuk menghapus elemen terakhir</a:t>
            </a:r>
            <a:endParaRPr/>
          </a:p>
          <a:p>
            <a:pPr indent="-342900" lvl="0" marL="457200" rtl="0" algn="l">
              <a:spcBef>
                <a:spcPts val="0"/>
              </a:spcBef>
              <a:spcAft>
                <a:spcPts val="0"/>
              </a:spcAft>
              <a:buSzPts val="1800"/>
              <a:buChar char="●"/>
            </a:pPr>
            <a:r>
              <a:rPr lang="id"/>
              <a:t>Untuk menghitung panjang list, kita bisa menggunakan function len(list)</a:t>
            </a:r>
            <a:endParaRPr/>
          </a:p>
          <a:p>
            <a:pPr indent="-342900" lvl="0" marL="457200" rtl="0" algn="l">
              <a:spcBef>
                <a:spcPts val="0"/>
              </a:spcBef>
              <a:spcAft>
                <a:spcPts val="0"/>
              </a:spcAft>
              <a:buSzPts val="1800"/>
              <a:buChar char="●"/>
            </a:pPr>
            <a:r>
              <a:rPr lang="id"/>
              <a:t>List bisa digabungkan dengan list lain menggunakan operator + (tambah)</a:t>
            </a:r>
            <a:endParaRPr/>
          </a:p>
          <a:p>
            <a:pPr indent="-342900" lvl="0" marL="457200" rtl="0" algn="l">
              <a:spcBef>
                <a:spcPts val="0"/>
              </a:spcBef>
              <a:spcAft>
                <a:spcPts val="0"/>
              </a:spcAft>
              <a:buSzPts val="1800"/>
              <a:buChar char="●"/>
            </a:pPr>
            <a:r>
              <a:rPr lang="id"/>
              <a:t>List juga sama seperti string, bisa di iterasi menggunakan for loop</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list.py</a:t>
            </a:r>
            <a:endParaRPr/>
          </a:p>
        </p:txBody>
      </p:sp>
      <p:pic>
        <p:nvPicPr>
          <p:cNvPr id="692" name="Google Shape;692;p119"/>
          <p:cNvPicPr preferRelativeResize="0"/>
          <p:nvPr/>
        </p:nvPicPr>
        <p:blipFill>
          <a:blip r:embed="rId3">
            <a:alphaModFix/>
          </a:blip>
          <a:stretch>
            <a:fillRect/>
          </a:stretch>
        </p:blipFill>
        <p:spPr>
          <a:xfrm>
            <a:off x="152400" y="1170125"/>
            <a:ext cx="7981312" cy="382097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list.py</a:t>
            </a:r>
            <a:endParaRPr/>
          </a:p>
        </p:txBody>
      </p:sp>
      <p:pic>
        <p:nvPicPr>
          <p:cNvPr id="698" name="Google Shape;698;p120"/>
          <p:cNvPicPr preferRelativeResize="0"/>
          <p:nvPr/>
        </p:nvPicPr>
        <p:blipFill>
          <a:blip r:embed="rId3">
            <a:alphaModFix/>
          </a:blip>
          <a:stretch>
            <a:fillRect/>
          </a:stretch>
        </p:blipFill>
        <p:spPr>
          <a:xfrm>
            <a:off x="152400" y="1170125"/>
            <a:ext cx="3365433" cy="3820975"/>
          </a:xfrm>
          <a:prstGeom prst="rect">
            <a:avLst/>
          </a:prstGeom>
          <a:noFill/>
          <a:ln>
            <a:noFill/>
          </a:ln>
        </p:spPr>
      </p:pic>
      <p:pic>
        <p:nvPicPr>
          <p:cNvPr id="699" name="Google Shape;699;p120"/>
          <p:cNvPicPr preferRelativeResize="0"/>
          <p:nvPr/>
        </p:nvPicPr>
        <p:blipFill>
          <a:blip r:embed="rId4">
            <a:alphaModFix/>
          </a:blip>
          <a:stretch>
            <a:fillRect/>
          </a:stretch>
        </p:blipFill>
        <p:spPr>
          <a:xfrm>
            <a:off x="3670223" y="178425"/>
            <a:ext cx="3048325" cy="481267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Tuple</a:t>
            </a:r>
            <a:endParaRPr/>
          </a:p>
        </p:txBody>
      </p:sp>
      <p:sp>
        <p:nvSpPr>
          <p:cNvPr id="705" name="Google Shape;705;p1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Tuple mirip dengan list, tetapi tidak bisa diubah setelah dibuat. Tuple ditulis dengan kurung biasa ().</a:t>
            </a:r>
            <a:endParaRPr/>
          </a:p>
          <a:p>
            <a:pPr indent="-342900" lvl="0" marL="457200" rtl="0" algn="l">
              <a:spcBef>
                <a:spcPts val="0"/>
              </a:spcBef>
              <a:spcAft>
                <a:spcPts val="0"/>
              </a:spcAft>
              <a:buSzPts val="1800"/>
              <a:buChar char="●"/>
            </a:pPr>
            <a:r>
              <a:rPr lang="id"/>
              <a:t>Untuk membuat tuple, kita bisa buat langsung menggunakan kurung, misal (satu, dua, tiga), kita bisa buat data bebas berapapun yang kita mau</a:t>
            </a:r>
            <a:endParaRPr/>
          </a:p>
          <a:p>
            <a:pPr indent="-342900" lvl="0" marL="457200" rtl="0" algn="l">
              <a:spcBef>
                <a:spcPts val="0"/>
              </a:spcBef>
              <a:spcAft>
                <a:spcPts val="0"/>
              </a:spcAft>
              <a:buSzPts val="1800"/>
              <a:buChar char="●"/>
            </a:pPr>
            <a:r>
              <a:rPr lang="id"/>
              <a:t>Untuk mengakses data di tuple, sama seperti di list dan string, kita bisa gunakan index dengan kurung kotak</a:t>
            </a:r>
            <a:endParaRPr/>
          </a:p>
          <a:p>
            <a:pPr indent="-342900" lvl="0" marL="457200" rtl="0" algn="l">
              <a:spcBef>
                <a:spcPts val="0"/>
              </a:spcBef>
              <a:spcAft>
                <a:spcPts val="0"/>
              </a:spcAft>
              <a:buSzPts val="1800"/>
              <a:buChar char="●"/>
            </a:pPr>
            <a:r>
              <a:rPr lang="id"/>
              <a:t>Tuple tidak bisa diubah setelah dibuat, jadi tidak ada operasi untuk mengubah atau menghapus data di tuple</a:t>
            </a:r>
            <a:endParaRPr/>
          </a:p>
          <a:p>
            <a:pPr indent="-342900" lvl="0" marL="457200" rtl="0" algn="l">
              <a:spcBef>
                <a:spcPts val="0"/>
              </a:spcBef>
              <a:spcAft>
                <a:spcPts val="0"/>
              </a:spcAft>
              <a:buSzPts val="1800"/>
              <a:buChar char="●"/>
            </a:pPr>
            <a:r>
              <a:rPr lang="id"/>
              <a:t>Untuk mengetahui panjang tuple, kita bisa gunakan function len(tuple)</a:t>
            </a:r>
            <a:endParaRPr/>
          </a:p>
          <a:p>
            <a:pPr indent="-342900" lvl="0" marL="457200" rtl="0" algn="l">
              <a:spcBef>
                <a:spcPts val="0"/>
              </a:spcBef>
              <a:spcAft>
                <a:spcPts val="0"/>
              </a:spcAft>
              <a:buSzPts val="1800"/>
              <a:buChar char="●"/>
            </a:pPr>
            <a:r>
              <a:rPr lang="id"/>
              <a:t>Sama seperti list, kita juga bisa melakukan iterasi di tuple</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tuple.py</a:t>
            </a:r>
            <a:endParaRPr/>
          </a:p>
        </p:txBody>
      </p:sp>
      <p:pic>
        <p:nvPicPr>
          <p:cNvPr id="711" name="Google Shape;711;p122"/>
          <p:cNvPicPr preferRelativeResize="0"/>
          <p:nvPr/>
        </p:nvPicPr>
        <p:blipFill>
          <a:blip r:embed="rId3">
            <a:alphaModFix/>
          </a:blip>
          <a:stretch>
            <a:fillRect/>
          </a:stretch>
        </p:blipFill>
        <p:spPr>
          <a:xfrm>
            <a:off x="152400" y="1170125"/>
            <a:ext cx="5465699" cy="382097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Dictionary (Kamus)</a:t>
            </a:r>
            <a:endParaRPr/>
          </a:p>
        </p:txBody>
      </p:sp>
      <p:sp>
        <p:nvSpPr>
          <p:cNvPr id="717" name="Google Shape;717;p1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d"/>
              <a:t>Dictionary menyimpan data dalam pasangan key-value (kunci-nilai). Dictionary ditulis dengan kurung kurawal {}.</a:t>
            </a:r>
            <a:endParaRPr/>
          </a:p>
          <a:p>
            <a:pPr indent="-342900" lvl="0" marL="457200" rtl="0" algn="l">
              <a:spcBef>
                <a:spcPts val="0"/>
              </a:spcBef>
              <a:spcAft>
                <a:spcPts val="0"/>
              </a:spcAft>
              <a:buSzPts val="1800"/>
              <a:buChar char="●"/>
            </a:pPr>
            <a:r>
              <a:rPr lang="id"/>
              <a:t>Untuk membuat data dictionary, kita perlu menentukan key dan juga value nya.</a:t>
            </a:r>
            <a:endParaRPr/>
          </a:p>
          <a:p>
            <a:pPr indent="-342900" lvl="0" marL="457200" rtl="0" algn="l">
              <a:spcBef>
                <a:spcPts val="0"/>
              </a:spcBef>
              <a:spcAft>
                <a:spcPts val="0"/>
              </a:spcAft>
              <a:buSzPts val="1800"/>
              <a:buChar char="●"/>
            </a:pPr>
            <a:r>
              <a:rPr lang="id"/>
              <a:t>Key di dictionary bisa tipe data seperti string, integer, float, boolean, namun biasanya kebanyakan orang menggunakan string untuk key nya</a:t>
            </a:r>
            <a:endParaRPr/>
          </a:p>
          <a:p>
            <a:pPr indent="-342900" lvl="0" marL="457200" rtl="0" algn="l">
              <a:spcBef>
                <a:spcPts val="0"/>
              </a:spcBef>
              <a:spcAft>
                <a:spcPts val="0"/>
              </a:spcAft>
              <a:buSzPts val="1800"/>
              <a:buChar char="●"/>
            </a:pPr>
            <a:r>
              <a:rPr lang="id"/>
              <a:t>Untuk mengakses dan mengubah value di dictionary, kita bisa gunakan key dengan kurung kotak, seperti di list</a:t>
            </a:r>
            <a:endParaRPr/>
          </a:p>
          <a:p>
            <a:pPr indent="-342900" lvl="0" marL="457200" rtl="0" algn="l">
              <a:spcBef>
                <a:spcPts val="0"/>
              </a:spcBef>
              <a:spcAft>
                <a:spcPts val="0"/>
              </a:spcAft>
              <a:buSzPts val="1800"/>
              <a:buChar char="●"/>
            </a:pPr>
            <a:r>
              <a:rPr lang="id"/>
              <a:t>Untuk menghapus value di dictionary, kita bisa gunakan kata kunci del dict[key]</a:t>
            </a:r>
            <a:endParaRPr/>
          </a:p>
          <a:p>
            <a:pPr indent="-342900" lvl="0" marL="457200" rtl="0" algn="l">
              <a:spcBef>
                <a:spcPts val="0"/>
              </a:spcBef>
              <a:spcAft>
                <a:spcPts val="0"/>
              </a:spcAft>
              <a:buSzPts val="1800"/>
              <a:buChar char="●"/>
            </a:pPr>
            <a:r>
              <a:rPr lang="id"/>
              <a:t>Untuk mengetahui panjang dictionary, kita bisa gunakan len(dictionary)</a:t>
            </a:r>
            <a:endParaRPr/>
          </a:p>
          <a:p>
            <a:pPr indent="-342900" lvl="0" marL="457200" rtl="0" algn="l">
              <a:spcBef>
                <a:spcPts val="0"/>
              </a:spcBef>
              <a:spcAft>
                <a:spcPts val="0"/>
              </a:spcAft>
              <a:buSzPts val="1800"/>
              <a:buChar char="●"/>
            </a:pPr>
            <a:r>
              <a:rPr lang="id"/>
              <a:t>Dictionary juga bisa di iterasi menggunakan perulangan for sama seperti list yang mengembalikan key nya</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dictionary.py</a:t>
            </a:r>
            <a:endParaRPr/>
          </a:p>
        </p:txBody>
      </p:sp>
      <p:pic>
        <p:nvPicPr>
          <p:cNvPr id="723" name="Google Shape;723;p124"/>
          <p:cNvPicPr preferRelativeResize="0"/>
          <p:nvPr/>
        </p:nvPicPr>
        <p:blipFill>
          <a:blip r:embed="rId3">
            <a:alphaModFix/>
          </a:blip>
          <a:stretch>
            <a:fillRect/>
          </a:stretch>
        </p:blipFill>
        <p:spPr>
          <a:xfrm>
            <a:off x="152400" y="1170125"/>
            <a:ext cx="3233132" cy="3820974"/>
          </a:xfrm>
          <a:prstGeom prst="rect">
            <a:avLst/>
          </a:prstGeom>
          <a:noFill/>
          <a:ln>
            <a:noFill/>
          </a:ln>
        </p:spPr>
      </p:pic>
      <p:pic>
        <p:nvPicPr>
          <p:cNvPr id="724" name="Google Shape;724;p124"/>
          <p:cNvPicPr preferRelativeResize="0"/>
          <p:nvPr/>
        </p:nvPicPr>
        <p:blipFill>
          <a:blip r:embed="rId4">
            <a:alphaModFix/>
          </a:blip>
          <a:stretch>
            <a:fillRect/>
          </a:stretch>
        </p:blipFill>
        <p:spPr>
          <a:xfrm>
            <a:off x="3537925" y="1170125"/>
            <a:ext cx="3606851" cy="28018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Set (Himpunan)</a:t>
            </a:r>
            <a:endParaRPr/>
          </a:p>
        </p:txBody>
      </p:sp>
      <p:sp>
        <p:nvSpPr>
          <p:cNvPr id="730" name="Google Shape;730;p1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Set adalah kumpulan data yang tidak berurutan dan tidak memiliki elemen duplikat. </a:t>
            </a:r>
            <a:endParaRPr/>
          </a:p>
          <a:p>
            <a:pPr indent="-342900" lvl="0" marL="457200" rtl="0" algn="l">
              <a:spcBef>
                <a:spcPts val="0"/>
              </a:spcBef>
              <a:spcAft>
                <a:spcPts val="0"/>
              </a:spcAft>
              <a:buSzPts val="1800"/>
              <a:buChar char="●"/>
            </a:pPr>
            <a:r>
              <a:rPr lang="id"/>
              <a:t>Set ditulis dengan kurung kurawal {} atau fungsi set().</a:t>
            </a:r>
            <a:endParaRPr/>
          </a:p>
          <a:p>
            <a:pPr indent="-342900" lvl="0" marL="457200" rtl="0" algn="l">
              <a:spcBef>
                <a:spcPts val="0"/>
              </a:spcBef>
              <a:spcAft>
                <a:spcPts val="0"/>
              </a:spcAft>
              <a:buSzPts val="1800"/>
              <a:buChar char="●"/>
            </a:pPr>
            <a:r>
              <a:rPr lang="id"/>
              <a:t>Untuk menambah data ke set, kita bisa gunakan method add(value)</a:t>
            </a:r>
            <a:endParaRPr/>
          </a:p>
          <a:p>
            <a:pPr indent="-342900" lvl="0" marL="457200" rtl="0" algn="l">
              <a:spcBef>
                <a:spcPts val="0"/>
              </a:spcBef>
              <a:spcAft>
                <a:spcPts val="0"/>
              </a:spcAft>
              <a:buSzPts val="1800"/>
              <a:buChar char="●"/>
            </a:pPr>
            <a:r>
              <a:rPr lang="id"/>
              <a:t>Untuk menghapus data di set, kita bisa gunakan method remove(value)</a:t>
            </a:r>
            <a:endParaRPr/>
          </a:p>
          <a:p>
            <a:pPr indent="-342900" lvl="0" marL="457200" rtl="0" algn="l">
              <a:spcBef>
                <a:spcPts val="0"/>
              </a:spcBef>
              <a:spcAft>
                <a:spcPts val="0"/>
              </a:spcAft>
              <a:buSzPts val="1800"/>
              <a:buChar char="●"/>
            </a:pPr>
            <a:r>
              <a:rPr lang="id"/>
              <a:t>Karena data di set tidak duplicate dan tidak berurutan, maka tidak bisa diakses menggunakan index</a:t>
            </a:r>
            <a:endParaRPr/>
          </a:p>
          <a:p>
            <a:pPr indent="-342900" lvl="0" marL="457200" rtl="0" algn="l">
              <a:spcBef>
                <a:spcPts val="0"/>
              </a:spcBef>
              <a:spcAft>
                <a:spcPts val="0"/>
              </a:spcAft>
              <a:buSzPts val="1800"/>
              <a:buChar char="●"/>
            </a:pPr>
            <a:r>
              <a:rPr lang="id"/>
              <a:t>Untuk mengakses data di set, biasanya menggunakan perulangan for</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set.py</a:t>
            </a:r>
            <a:endParaRPr/>
          </a:p>
        </p:txBody>
      </p:sp>
      <p:pic>
        <p:nvPicPr>
          <p:cNvPr id="736" name="Google Shape;736;p126"/>
          <p:cNvPicPr preferRelativeResize="0"/>
          <p:nvPr/>
        </p:nvPicPr>
        <p:blipFill>
          <a:blip r:embed="rId3">
            <a:alphaModFix/>
          </a:blip>
          <a:stretch>
            <a:fillRect/>
          </a:stretch>
        </p:blipFill>
        <p:spPr>
          <a:xfrm>
            <a:off x="152400" y="1170125"/>
            <a:ext cx="5472984" cy="382097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27"/>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Function</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Function?</a:t>
            </a:r>
            <a:endParaRPr/>
          </a:p>
        </p:txBody>
      </p:sp>
      <p:sp>
        <p:nvSpPr>
          <p:cNvPr id="747" name="Google Shape;747;p1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Function (fungsi) adalah blok kode yang dapat digunakan berulang kali. </a:t>
            </a:r>
            <a:endParaRPr/>
          </a:p>
          <a:p>
            <a:pPr indent="-342900" lvl="0" marL="457200" rtl="0" algn="l">
              <a:spcBef>
                <a:spcPts val="0"/>
              </a:spcBef>
              <a:spcAft>
                <a:spcPts val="0"/>
              </a:spcAft>
              <a:buSzPts val="1800"/>
              <a:buChar char="●"/>
            </a:pPr>
            <a:r>
              <a:rPr lang="id"/>
              <a:t>Function membantu kita menulis kode yang lebih terorganisir, mudah dibaca, dan mudah dipelihara. </a:t>
            </a:r>
            <a:endParaRPr/>
          </a:p>
          <a:p>
            <a:pPr indent="-342900" lvl="0" marL="457200" rtl="0" algn="l">
              <a:spcBef>
                <a:spcPts val="0"/>
              </a:spcBef>
              <a:spcAft>
                <a:spcPts val="0"/>
              </a:spcAft>
              <a:buSzPts val="1800"/>
              <a:buChar char="●"/>
            </a:pPr>
            <a:r>
              <a:rPr lang="id"/>
              <a:t>Dengan function, kita tidak perlu menulis kode yang sama berkali-kali.</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Function</a:t>
            </a:r>
            <a:endParaRPr/>
          </a:p>
        </p:txBody>
      </p:sp>
      <p:sp>
        <p:nvSpPr>
          <p:cNvPr id="753" name="Google Shape;753;p1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Function dibuat menggunakan kata kunci def</a:t>
            </a:r>
            <a:endParaRPr/>
          </a:p>
          <a:p>
            <a:pPr indent="-342900" lvl="0" marL="457200" rtl="0" algn="l">
              <a:spcBef>
                <a:spcPts val="0"/>
              </a:spcBef>
              <a:spcAft>
                <a:spcPts val="0"/>
              </a:spcAft>
              <a:buSzPts val="1800"/>
              <a:buChar char="●"/>
            </a:pPr>
            <a:r>
              <a:rPr lang="id"/>
              <a:t>Lalu diikuti dengan nama function dan diakhiri dengan kurung buka dan tutup </a:t>
            </a:r>
            <a:endParaRPr/>
          </a:p>
          <a:p>
            <a:pPr indent="-342900" lvl="0" marL="457200" rtl="0" algn="l">
              <a:spcBef>
                <a:spcPts val="0"/>
              </a:spcBef>
              <a:spcAft>
                <a:spcPts val="0"/>
              </a:spcAft>
              <a:buSzPts val="1800"/>
              <a:buChar char="●"/>
            </a:pPr>
            <a:r>
              <a:rPr lang="id"/>
              <a:t>Biasanya nama function dibuat seperti nama variable, snake_case dan hurup kecil semua.</a:t>
            </a:r>
            <a:endParaRPr/>
          </a:p>
          <a:p>
            <a:pPr indent="-342900" lvl="0" marL="457200" rtl="0" algn="l">
              <a:spcBef>
                <a:spcPts val="0"/>
              </a:spcBef>
              <a:spcAft>
                <a:spcPts val="0"/>
              </a:spcAft>
              <a:buSzPts val="1800"/>
              <a:buChar char="●"/>
            </a:pPr>
            <a:r>
              <a:rPr lang="id"/>
              <a:t>Isi function harus terdapat spasi untuk menandakan bahwa itu adalah isi dari function nya</a:t>
            </a:r>
            <a:endParaRPr/>
          </a:p>
          <a:p>
            <a:pPr indent="-342900" lvl="0" marL="457200" rtl="0" algn="l">
              <a:spcBef>
                <a:spcPts val="0"/>
              </a:spcBef>
              <a:spcAft>
                <a:spcPts val="0"/>
              </a:spcAft>
              <a:buSzPts val="1800"/>
              <a:buChar char="●"/>
            </a:pPr>
            <a:r>
              <a:rPr lang="id"/>
              <a:t>Untuk memanggil function, kita bisa langsung panggil dengan nama_function diikuti dengan kurung buka tutup</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759" name="Google Shape;759;p130"/>
          <p:cNvPicPr preferRelativeResize="0"/>
          <p:nvPr/>
        </p:nvPicPr>
        <p:blipFill>
          <a:blip r:embed="rId3">
            <a:alphaModFix/>
          </a:blip>
          <a:stretch>
            <a:fillRect/>
          </a:stretch>
        </p:blipFill>
        <p:spPr>
          <a:xfrm>
            <a:off x="152400" y="1170125"/>
            <a:ext cx="8839202" cy="3402083"/>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 dengan Parameter</a:t>
            </a:r>
            <a:endParaRPr/>
          </a:p>
        </p:txBody>
      </p:sp>
      <p:sp>
        <p:nvSpPr>
          <p:cNvPr id="765" name="Google Shape;765;p1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Parameter memungkinkan kita mengirim data ke function</a:t>
            </a:r>
            <a:endParaRPr/>
          </a:p>
          <a:p>
            <a:pPr indent="-342900" lvl="0" marL="457200" rtl="0" algn="l">
              <a:spcBef>
                <a:spcPts val="0"/>
              </a:spcBef>
              <a:spcAft>
                <a:spcPts val="0"/>
              </a:spcAft>
              <a:buSzPts val="1800"/>
              <a:buChar char="●"/>
            </a:pPr>
            <a:r>
              <a:rPr lang="id"/>
              <a:t>Caranya kita bisa tambahkan nama parameter diantara kurung buka dan kurung tutup di function</a:t>
            </a:r>
            <a:endParaRPr/>
          </a:p>
          <a:p>
            <a:pPr indent="-342900" lvl="0" marL="457200" rtl="0" algn="l">
              <a:spcBef>
                <a:spcPts val="0"/>
              </a:spcBef>
              <a:spcAft>
                <a:spcPts val="0"/>
              </a:spcAft>
              <a:buSzPts val="1800"/>
              <a:buChar char="●"/>
            </a:pPr>
            <a:r>
              <a:rPr lang="id"/>
              <a:t>Jika kita ingin menambahkan lebih dari satu parameter, kita bisa gunakan karakter koma sebagai pemisah parameter tersebut</a:t>
            </a:r>
            <a:endParaRPr/>
          </a:p>
          <a:p>
            <a:pPr indent="-342900" lvl="0" marL="457200" rtl="0" algn="l">
              <a:spcBef>
                <a:spcPts val="0"/>
              </a:spcBef>
              <a:spcAft>
                <a:spcPts val="0"/>
              </a:spcAft>
              <a:buSzPts val="1800"/>
              <a:buChar char="●"/>
            </a:pPr>
            <a:r>
              <a:rPr lang="id"/>
              <a:t>Saat memanggil function nya, maka kita wajib mengisi data pada parameter function nya</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771" name="Google Shape;771;p132"/>
          <p:cNvPicPr preferRelativeResize="0"/>
          <p:nvPr/>
        </p:nvPicPr>
        <p:blipFill>
          <a:blip r:embed="rId3">
            <a:alphaModFix/>
          </a:blip>
          <a:stretch>
            <a:fillRect/>
          </a:stretch>
        </p:blipFill>
        <p:spPr>
          <a:xfrm>
            <a:off x="152400" y="1170125"/>
            <a:ext cx="7841816" cy="382097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 dengan Return Value</a:t>
            </a:r>
            <a:endParaRPr/>
          </a:p>
        </p:txBody>
      </p:sp>
      <p:sp>
        <p:nvSpPr>
          <p:cNvPr id="777" name="Google Shape;777;p1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Saat membuat function, mungkin kita ingin function tersebut melakukan suatu kegiatan dan hasil kegiatan tersebut ingin kita dapatkan.</a:t>
            </a:r>
            <a:endParaRPr/>
          </a:p>
          <a:p>
            <a:pPr indent="-342900" lvl="0" marL="457200" rtl="0" algn="l">
              <a:spcBef>
                <a:spcPts val="0"/>
              </a:spcBef>
              <a:spcAft>
                <a:spcPts val="0"/>
              </a:spcAft>
              <a:buSzPts val="1800"/>
              <a:buChar char="●"/>
            </a:pPr>
            <a:r>
              <a:rPr lang="id"/>
              <a:t>Function bisa mengembalikan nilai dari kegiatan yang dilakukan di dalam function</a:t>
            </a:r>
            <a:endParaRPr/>
          </a:p>
          <a:p>
            <a:pPr indent="-342900" lvl="0" marL="457200" rtl="0" algn="l">
              <a:spcBef>
                <a:spcPts val="0"/>
              </a:spcBef>
              <a:spcAft>
                <a:spcPts val="0"/>
              </a:spcAft>
              <a:buSzPts val="1800"/>
              <a:buChar char="●"/>
            </a:pPr>
            <a:r>
              <a:rPr lang="id"/>
              <a:t>Function bisa mengembalikan nilai menggunakan kata kunci return</a:t>
            </a:r>
            <a:endParaRPr/>
          </a:p>
          <a:p>
            <a:pPr indent="-342900" lvl="0" marL="457200" rtl="0" algn="l">
              <a:spcBef>
                <a:spcPts val="0"/>
              </a:spcBef>
              <a:spcAft>
                <a:spcPts val="0"/>
              </a:spcAft>
              <a:buSzPts val="1800"/>
              <a:buChar char="●"/>
            </a:pPr>
            <a:r>
              <a:rPr lang="id"/>
              <a:t>Setelah kata kunci return, diikuti dengan nilai yang akan dikembalikan di function tersebut</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783" name="Google Shape;783;p134"/>
          <p:cNvPicPr preferRelativeResize="0"/>
          <p:nvPr/>
        </p:nvPicPr>
        <p:blipFill>
          <a:blip r:embed="rId3">
            <a:alphaModFix/>
          </a:blip>
          <a:stretch>
            <a:fillRect/>
          </a:stretch>
        </p:blipFill>
        <p:spPr>
          <a:xfrm>
            <a:off x="152400" y="1170125"/>
            <a:ext cx="8839199" cy="3630144"/>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Default Parameter</a:t>
            </a:r>
            <a:endParaRPr/>
          </a:p>
        </p:txBody>
      </p:sp>
      <p:sp>
        <p:nvSpPr>
          <p:cNvPr id="789" name="Google Shape;789;p1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Saat kita menambahkan parameter di function, maka kita wajib mengisi nilai para parameter tersebut ketika memanggil function nya</a:t>
            </a:r>
            <a:endParaRPr/>
          </a:p>
          <a:p>
            <a:pPr indent="-342900" lvl="0" marL="457200" rtl="0" algn="l">
              <a:spcBef>
                <a:spcPts val="0"/>
              </a:spcBef>
              <a:spcAft>
                <a:spcPts val="0"/>
              </a:spcAft>
              <a:buSzPts val="1800"/>
              <a:buChar char="●"/>
            </a:pPr>
            <a:r>
              <a:rPr lang="id"/>
              <a:t>Namun, kita juga bisa menambahkan default parameter, yaitu nilai awal untuk parameter tersebut</a:t>
            </a:r>
            <a:endParaRPr/>
          </a:p>
          <a:p>
            <a:pPr indent="-342900" lvl="0" marL="457200" rtl="0" algn="l">
              <a:spcBef>
                <a:spcPts val="0"/>
              </a:spcBef>
              <a:spcAft>
                <a:spcPts val="0"/>
              </a:spcAft>
              <a:buSzPts val="1800"/>
              <a:buChar char="●"/>
            </a:pPr>
            <a:r>
              <a:rPr lang="id"/>
              <a:t>Hal ini menjadikan jika kita tidak mengisi nilai pada parameter tersebut, maka parameter tersebut akan menggunakan nilai awal</a:t>
            </a:r>
            <a:endParaRPr/>
          </a:p>
          <a:p>
            <a:pPr indent="-342900" lvl="0" marL="457200" rtl="0" algn="l">
              <a:spcBef>
                <a:spcPts val="0"/>
              </a:spcBef>
              <a:spcAft>
                <a:spcPts val="0"/>
              </a:spcAft>
              <a:buSzPts val="1800"/>
              <a:buChar char="●"/>
            </a:pPr>
            <a:r>
              <a:rPr lang="id"/>
              <a:t>Posisi default parameter, tidak boleh di depan parameter biasa, harus di belakang parameter biasa</a:t>
            </a:r>
            <a:endParaRPr/>
          </a:p>
          <a:p>
            <a:pPr indent="-342900" lvl="0" marL="457200" rtl="0" algn="l">
              <a:spcBef>
                <a:spcPts val="0"/>
              </a:spcBef>
              <a:spcAft>
                <a:spcPts val="0"/>
              </a:spcAft>
              <a:buSzPts val="1800"/>
              <a:buChar char="●"/>
            </a:pPr>
            <a:r>
              <a:rPr lang="id"/>
              <a:t>Untuk membuat default parameter, cukup tambahkan = (sama dengan) dan diikuti dengan nilai awalnya</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795" name="Google Shape;795;p136"/>
          <p:cNvPicPr preferRelativeResize="0"/>
          <p:nvPr/>
        </p:nvPicPr>
        <p:blipFill>
          <a:blip r:embed="rId3">
            <a:alphaModFix/>
          </a:blip>
          <a:stretch>
            <a:fillRect/>
          </a:stretch>
        </p:blipFill>
        <p:spPr>
          <a:xfrm>
            <a:off x="152400" y="1170125"/>
            <a:ext cx="8839202" cy="2219891"/>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Keyword Argument</a:t>
            </a:r>
            <a:endParaRPr/>
          </a:p>
        </p:txBody>
      </p:sp>
      <p:sp>
        <p:nvSpPr>
          <p:cNvPr id="801" name="Google Shape;801;p1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Argument adalah nilai yang kita kirim ke parameter function ketika kita memanggil function</a:t>
            </a:r>
            <a:endParaRPr/>
          </a:p>
          <a:p>
            <a:pPr indent="-342900" lvl="0" marL="457200" rtl="0" algn="l">
              <a:spcBef>
                <a:spcPts val="0"/>
              </a:spcBef>
              <a:spcAft>
                <a:spcPts val="0"/>
              </a:spcAft>
              <a:buSzPts val="1800"/>
              <a:buChar char="●"/>
            </a:pPr>
            <a:r>
              <a:rPr lang="id"/>
              <a:t>Saat memanggil function, posisi argument harus sama dengan posisi parameter di function</a:t>
            </a:r>
            <a:endParaRPr/>
          </a:p>
          <a:p>
            <a:pPr indent="-342900" lvl="0" marL="457200" rtl="0" algn="l">
              <a:spcBef>
                <a:spcPts val="0"/>
              </a:spcBef>
              <a:spcAft>
                <a:spcPts val="0"/>
              </a:spcAft>
              <a:buSzPts val="1800"/>
              <a:buChar char="●"/>
            </a:pPr>
            <a:r>
              <a:rPr lang="id"/>
              <a:t>Namun, jika kita ingin mengubah posisi argument, sehingga posisinya tidak harus sama dengan posisi parameter, maka kita harus menyebutkan nama parameter nya saat memanggil function</a:t>
            </a:r>
            <a:endParaRPr/>
          </a:p>
          <a:p>
            <a:pPr indent="-342900" lvl="0" marL="457200" rtl="0" algn="l">
              <a:spcBef>
                <a:spcPts val="0"/>
              </a:spcBef>
              <a:spcAft>
                <a:spcPts val="0"/>
              </a:spcAft>
              <a:buSzPts val="1800"/>
              <a:buChar char="●"/>
            </a:pPr>
            <a:r>
              <a:rPr lang="id"/>
              <a:t>Fitur ini disebut Keyword Argument</a:t>
            </a:r>
            <a:endParaRPr/>
          </a:p>
          <a:p>
            <a:pPr indent="-342900" lvl="0" marL="457200" rtl="0" algn="l">
              <a:spcBef>
                <a:spcPts val="0"/>
              </a:spcBef>
              <a:spcAft>
                <a:spcPts val="0"/>
              </a:spcAft>
              <a:buSzPts val="1800"/>
              <a:buChar char="●"/>
            </a:pPr>
            <a:r>
              <a:rPr lang="id"/>
              <a:t>Saat menggunakan Keyword Argument, kita juga bisa mengkombinasikan dengan Argument biasa</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807" name="Google Shape;807;p138"/>
          <p:cNvPicPr preferRelativeResize="0"/>
          <p:nvPr/>
        </p:nvPicPr>
        <p:blipFill>
          <a:blip r:embed="rId3">
            <a:alphaModFix/>
          </a:blip>
          <a:stretch>
            <a:fillRect/>
          </a:stretch>
        </p:blipFill>
        <p:spPr>
          <a:xfrm>
            <a:off x="152400" y="1170125"/>
            <a:ext cx="8334339" cy="3820974"/>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813" name="Google Shape;813;p139"/>
          <p:cNvPicPr preferRelativeResize="0"/>
          <p:nvPr/>
        </p:nvPicPr>
        <p:blipFill>
          <a:blip r:embed="rId3">
            <a:alphaModFix/>
          </a:blip>
          <a:stretch>
            <a:fillRect/>
          </a:stretch>
        </p:blipFill>
        <p:spPr>
          <a:xfrm>
            <a:off x="152400" y="1170125"/>
            <a:ext cx="7833640" cy="3820976"/>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Local Variable</a:t>
            </a:r>
            <a:endParaRPr/>
          </a:p>
        </p:txBody>
      </p:sp>
      <p:sp>
        <p:nvSpPr>
          <p:cNvPr id="819" name="Google Shape;819;p1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Saat kita membuat variabel di dalam function, maka variabel tersebut bersifat local di function itu, artinya tidak bisa digunakan di luar function</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825" name="Google Shape;825;p141"/>
          <p:cNvPicPr preferRelativeResize="0"/>
          <p:nvPr/>
        </p:nvPicPr>
        <p:blipFill>
          <a:blip r:embed="rId3">
            <a:alphaModFix/>
          </a:blip>
          <a:stretch>
            <a:fillRect/>
          </a:stretch>
        </p:blipFill>
        <p:spPr>
          <a:xfrm>
            <a:off x="152400" y="1170125"/>
            <a:ext cx="8839202" cy="227449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Global Variable</a:t>
            </a:r>
            <a:endParaRPr/>
          </a:p>
        </p:txBody>
      </p:sp>
      <p:sp>
        <p:nvSpPr>
          <p:cNvPr id="831" name="Google Shape;831;p1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Variable yang kita buat di luar function, maka bisa digunakan di dalam function, atau bersifat global</a:t>
            </a:r>
            <a:endParaRPr/>
          </a:p>
          <a:p>
            <a:pPr indent="-342900" lvl="0" marL="457200" rtl="0" algn="l">
              <a:spcBef>
                <a:spcPts val="0"/>
              </a:spcBef>
              <a:spcAft>
                <a:spcPts val="0"/>
              </a:spcAft>
              <a:buSzPts val="1800"/>
              <a:buChar char="●"/>
            </a:pPr>
            <a:r>
              <a:rPr lang="id"/>
              <a:t>Namun kita tidak bisa mengubah nilai dari global variable di dalam function, jika kita ingin mengubah nilai dari global variable, maka kita harus gunakan kata kunci global di dalam function nya</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837" name="Google Shape;837;p143"/>
          <p:cNvPicPr preferRelativeResize="0"/>
          <p:nvPr/>
        </p:nvPicPr>
        <p:blipFill>
          <a:blip r:embed="rId3">
            <a:alphaModFix/>
          </a:blip>
          <a:stretch>
            <a:fillRect/>
          </a:stretch>
        </p:blipFill>
        <p:spPr>
          <a:xfrm>
            <a:off x="152400" y="1170125"/>
            <a:ext cx="8839200" cy="369419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Parameter Dinamis</a:t>
            </a:r>
            <a:endParaRPr/>
          </a:p>
        </p:txBody>
      </p:sp>
      <p:sp>
        <p:nvSpPr>
          <p:cNvPr id="843" name="Google Shape;843;p1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Python juga mendukung parameter dinamis</a:t>
            </a:r>
            <a:endParaRPr/>
          </a:p>
          <a:p>
            <a:pPr indent="-342900" lvl="0" marL="457200" rtl="0" algn="l">
              <a:spcBef>
                <a:spcPts val="0"/>
              </a:spcBef>
              <a:spcAft>
                <a:spcPts val="0"/>
              </a:spcAft>
              <a:buSzPts val="1800"/>
              <a:buChar char="●"/>
            </a:pPr>
            <a:r>
              <a:rPr lang="id"/>
              <a:t>Kita bisa menambahkan tanda * sebelum nama parameter untuk memberi tahu bahwa itu adalah parameter dinamis berupa List</a:t>
            </a:r>
            <a:endParaRPr/>
          </a:p>
          <a:p>
            <a:pPr indent="-342900" lvl="0" marL="457200" rtl="0" algn="l">
              <a:spcBef>
                <a:spcPts val="0"/>
              </a:spcBef>
              <a:spcAft>
                <a:spcPts val="0"/>
              </a:spcAft>
              <a:buSzPts val="1800"/>
              <a:buChar char="●"/>
            </a:pPr>
            <a:r>
              <a:rPr lang="id"/>
              <a:t>Atau kita bisa gunakan tanda ** sebelum nama parameter untuk memberi tahu bahwa itu adalah parameter beruba Dictionary</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function.py</a:t>
            </a:r>
            <a:endParaRPr/>
          </a:p>
        </p:txBody>
      </p:sp>
      <p:pic>
        <p:nvPicPr>
          <p:cNvPr id="849" name="Google Shape;849;p145"/>
          <p:cNvPicPr preferRelativeResize="0"/>
          <p:nvPr/>
        </p:nvPicPr>
        <p:blipFill>
          <a:blip r:embed="rId3">
            <a:alphaModFix/>
          </a:blip>
          <a:stretch>
            <a:fillRect/>
          </a:stretch>
        </p:blipFill>
        <p:spPr>
          <a:xfrm>
            <a:off x="152400" y="1170125"/>
            <a:ext cx="7155643" cy="3820974"/>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46"/>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Penanganan Error</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Error?</a:t>
            </a:r>
            <a:endParaRPr/>
          </a:p>
        </p:txBody>
      </p:sp>
      <p:sp>
        <p:nvSpPr>
          <p:cNvPr id="860" name="Google Shape;860;p1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Error adalah kesalahan yang terjadi saat program berjalan. </a:t>
            </a:r>
            <a:endParaRPr/>
          </a:p>
          <a:p>
            <a:pPr indent="-342900" lvl="0" marL="457200" rtl="0" algn="l">
              <a:spcBef>
                <a:spcPts val="0"/>
              </a:spcBef>
              <a:spcAft>
                <a:spcPts val="0"/>
              </a:spcAft>
              <a:buSzPts val="1800"/>
              <a:buChar char="●"/>
            </a:pPr>
            <a:r>
              <a:rPr lang="id"/>
              <a:t>Ketika error terjadi, program akan berhenti dan menampilkan pesan error. </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SyntaxError</a:t>
            </a:r>
            <a:endParaRPr/>
          </a:p>
        </p:txBody>
      </p:sp>
      <p:sp>
        <p:nvSpPr>
          <p:cNvPr id="866" name="Google Shape;866;p1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Kesalahan sintaks</a:t>
            </a:r>
            <a:endParaRPr/>
          </a:p>
        </p:txBody>
      </p:sp>
      <p:pic>
        <p:nvPicPr>
          <p:cNvPr id="867" name="Google Shape;867;p148"/>
          <p:cNvPicPr preferRelativeResize="0"/>
          <p:nvPr/>
        </p:nvPicPr>
        <p:blipFill>
          <a:blip r:embed="rId3">
            <a:alphaModFix/>
          </a:blip>
          <a:stretch>
            <a:fillRect/>
          </a:stretch>
        </p:blipFill>
        <p:spPr>
          <a:xfrm>
            <a:off x="590550" y="2319625"/>
            <a:ext cx="7962900" cy="192405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NameError</a:t>
            </a:r>
            <a:endParaRPr/>
          </a:p>
        </p:txBody>
      </p:sp>
      <p:sp>
        <p:nvSpPr>
          <p:cNvPr id="873" name="Google Shape;873;p1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Variabel tidak ditemukan</a:t>
            </a:r>
            <a:endParaRPr/>
          </a:p>
        </p:txBody>
      </p:sp>
      <p:pic>
        <p:nvPicPr>
          <p:cNvPr id="874" name="Google Shape;874;p149"/>
          <p:cNvPicPr preferRelativeResize="0"/>
          <p:nvPr/>
        </p:nvPicPr>
        <p:blipFill>
          <a:blip r:embed="rId3">
            <a:alphaModFix/>
          </a:blip>
          <a:stretch>
            <a:fillRect/>
          </a:stretch>
        </p:blipFill>
        <p:spPr>
          <a:xfrm>
            <a:off x="0" y="1962443"/>
            <a:ext cx="9143999" cy="1796463"/>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TypeError</a:t>
            </a:r>
            <a:endParaRPr/>
          </a:p>
        </p:txBody>
      </p:sp>
      <p:sp>
        <p:nvSpPr>
          <p:cNvPr id="880" name="Google Shape;880;p1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Kesalahan tipe data</a:t>
            </a:r>
            <a:endParaRPr/>
          </a:p>
        </p:txBody>
      </p:sp>
      <p:pic>
        <p:nvPicPr>
          <p:cNvPr id="881" name="Google Shape;881;p150"/>
          <p:cNvPicPr preferRelativeResize="0"/>
          <p:nvPr/>
        </p:nvPicPr>
        <p:blipFill>
          <a:blip r:embed="rId3">
            <a:alphaModFix/>
          </a:blip>
          <a:stretch>
            <a:fillRect/>
          </a:stretch>
        </p:blipFill>
        <p:spPr>
          <a:xfrm>
            <a:off x="0" y="2026227"/>
            <a:ext cx="9144000" cy="207139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ValueError</a:t>
            </a:r>
            <a:endParaRPr/>
          </a:p>
        </p:txBody>
      </p:sp>
      <p:sp>
        <p:nvSpPr>
          <p:cNvPr id="887" name="Google Shape;887;p1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Nilai tidak valid</a:t>
            </a:r>
            <a:endParaRPr/>
          </a:p>
        </p:txBody>
      </p:sp>
      <p:pic>
        <p:nvPicPr>
          <p:cNvPr id="888" name="Google Shape;888;p151"/>
          <p:cNvPicPr preferRelativeResize="0"/>
          <p:nvPr/>
        </p:nvPicPr>
        <p:blipFill>
          <a:blip r:embed="rId3">
            <a:alphaModFix/>
          </a:blip>
          <a:stretch>
            <a:fillRect/>
          </a:stretch>
        </p:blipFill>
        <p:spPr>
          <a:xfrm>
            <a:off x="0" y="1810351"/>
            <a:ext cx="9144000" cy="2100649"/>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IndexError</a:t>
            </a:r>
            <a:endParaRPr/>
          </a:p>
        </p:txBody>
      </p:sp>
      <p:sp>
        <p:nvSpPr>
          <p:cNvPr id="894" name="Google Shape;894;p1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Index tidak valid / tidak ditemukan</a:t>
            </a:r>
            <a:endParaRPr/>
          </a:p>
        </p:txBody>
      </p:sp>
      <p:pic>
        <p:nvPicPr>
          <p:cNvPr id="895" name="Google Shape;895;p152"/>
          <p:cNvPicPr preferRelativeResize="0"/>
          <p:nvPr/>
        </p:nvPicPr>
        <p:blipFill>
          <a:blip r:embed="rId3">
            <a:alphaModFix/>
          </a:blip>
          <a:stretch>
            <a:fillRect/>
          </a:stretch>
        </p:blipFill>
        <p:spPr>
          <a:xfrm>
            <a:off x="0" y="1938133"/>
            <a:ext cx="9144001" cy="2433484"/>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KeyError</a:t>
            </a:r>
            <a:endParaRPr/>
          </a:p>
        </p:txBody>
      </p:sp>
      <p:sp>
        <p:nvSpPr>
          <p:cNvPr id="901" name="Google Shape;901;p1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Key tidak valid / tidak ditemukan</a:t>
            </a:r>
            <a:endParaRPr/>
          </a:p>
        </p:txBody>
      </p:sp>
      <p:pic>
        <p:nvPicPr>
          <p:cNvPr id="902" name="Google Shape;902;p153"/>
          <p:cNvPicPr preferRelativeResize="0"/>
          <p:nvPr/>
        </p:nvPicPr>
        <p:blipFill>
          <a:blip r:embed="rId3">
            <a:alphaModFix/>
          </a:blip>
          <a:stretch>
            <a:fillRect/>
          </a:stretch>
        </p:blipFill>
        <p:spPr>
          <a:xfrm>
            <a:off x="0" y="2012754"/>
            <a:ext cx="9143999" cy="2402541"/>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ZeroDivisionError</a:t>
            </a:r>
            <a:endParaRPr/>
          </a:p>
        </p:txBody>
      </p:sp>
      <p:sp>
        <p:nvSpPr>
          <p:cNvPr id="908" name="Google Shape;908;p1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Pembagian dengan nol</a:t>
            </a:r>
            <a:endParaRPr/>
          </a:p>
        </p:txBody>
      </p:sp>
      <p:pic>
        <p:nvPicPr>
          <p:cNvPr id="909" name="Google Shape;909;p154"/>
          <p:cNvPicPr preferRelativeResize="0"/>
          <p:nvPr/>
        </p:nvPicPr>
        <p:blipFill>
          <a:blip r:embed="rId3">
            <a:alphaModFix/>
          </a:blip>
          <a:stretch>
            <a:fillRect/>
          </a:stretch>
        </p:blipFill>
        <p:spPr>
          <a:xfrm>
            <a:off x="0" y="2068039"/>
            <a:ext cx="9143999" cy="2173721"/>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Penanganan Error</a:t>
            </a:r>
            <a:endParaRPr/>
          </a:p>
        </p:txBody>
      </p:sp>
      <p:sp>
        <p:nvSpPr>
          <p:cNvPr id="915" name="Google Shape;915;p1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Bagaimana untuk menangani error agar program kita tidak berhenti?</a:t>
            </a:r>
            <a:endParaRPr/>
          </a:p>
          <a:p>
            <a:pPr indent="-342900" lvl="0" marL="457200" rtl="0" algn="l">
              <a:spcBef>
                <a:spcPts val="0"/>
              </a:spcBef>
              <a:spcAft>
                <a:spcPts val="0"/>
              </a:spcAft>
              <a:buSzPts val="1800"/>
              <a:buChar char="●"/>
            </a:pPr>
            <a:r>
              <a:rPr lang="id"/>
              <a:t>Penanganan error memungkinkan program untuk menangani error dengan baik tanpa berhenti secara tiba-tiba.</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Try-Except</a:t>
            </a:r>
            <a:endParaRPr/>
          </a:p>
        </p:txBody>
      </p:sp>
      <p:sp>
        <p:nvSpPr>
          <p:cNvPr id="921" name="Google Shape;921;p1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try-except digunakan untuk menangani error yang mungkin terjadi</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error.py</a:t>
            </a:r>
            <a:endParaRPr/>
          </a:p>
        </p:txBody>
      </p:sp>
      <p:pic>
        <p:nvPicPr>
          <p:cNvPr id="927" name="Google Shape;927;p157"/>
          <p:cNvPicPr preferRelativeResize="0"/>
          <p:nvPr/>
        </p:nvPicPr>
        <p:blipFill>
          <a:blip r:embed="rId3">
            <a:alphaModFix/>
          </a:blip>
          <a:stretch>
            <a:fillRect/>
          </a:stretch>
        </p:blipFill>
        <p:spPr>
          <a:xfrm>
            <a:off x="152400" y="1170125"/>
            <a:ext cx="8839199" cy="3623938"/>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Menangani Error Spesifik</a:t>
            </a:r>
            <a:endParaRPr/>
          </a:p>
        </p:txBody>
      </p:sp>
      <p:sp>
        <p:nvSpPr>
          <p:cNvPr id="933" name="Google Shape;933;p1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Saat menangani error, mungkin kita ingin melakukan hal yang berbeda untuk jenis error yang berbeda</a:t>
            </a:r>
            <a:endParaRPr/>
          </a:p>
          <a:p>
            <a:pPr indent="-342900" lvl="0" marL="457200" rtl="0" algn="l">
              <a:spcBef>
                <a:spcPts val="0"/>
              </a:spcBef>
              <a:spcAft>
                <a:spcPts val="0"/>
              </a:spcAft>
              <a:buSzPts val="1800"/>
              <a:buChar char="●"/>
            </a:pPr>
            <a:r>
              <a:rPr lang="id"/>
              <a:t>Kita bisa menyebutkan tipe errornya setelah kata kunci except, sehingga jika terjadi error jenis tersebut, maka bagian except tersebut yang akan dieksekusi</a:t>
            </a:r>
            <a:endParaRPr/>
          </a:p>
          <a:p>
            <a:pPr indent="-342900" lvl="0" marL="457200" rtl="0" algn="l">
              <a:spcBef>
                <a:spcPts val="0"/>
              </a:spcBef>
              <a:spcAft>
                <a:spcPts val="0"/>
              </a:spcAft>
              <a:buSzPts val="1800"/>
              <a:buChar char="●"/>
            </a:pPr>
            <a:r>
              <a:rPr lang="id"/>
              <a:t>Kita bisa menambahkan lebih dari satu except</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error.py</a:t>
            </a:r>
            <a:endParaRPr/>
          </a:p>
        </p:txBody>
      </p:sp>
      <p:pic>
        <p:nvPicPr>
          <p:cNvPr id="939" name="Google Shape;939;p159"/>
          <p:cNvPicPr preferRelativeResize="0"/>
          <p:nvPr/>
        </p:nvPicPr>
        <p:blipFill>
          <a:blip r:embed="rId3">
            <a:alphaModFix/>
          </a:blip>
          <a:stretch>
            <a:fillRect/>
          </a:stretch>
        </p:blipFill>
        <p:spPr>
          <a:xfrm>
            <a:off x="152400" y="1170125"/>
            <a:ext cx="8373359" cy="382097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Try-Except-Else</a:t>
            </a:r>
            <a:endParaRPr/>
          </a:p>
        </p:txBody>
      </p:sp>
      <p:sp>
        <p:nvSpPr>
          <p:cNvPr id="945" name="Google Shape;945;p1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try-except juga memiliki bagian else seperti pada if dan for</a:t>
            </a:r>
            <a:endParaRPr/>
          </a:p>
          <a:p>
            <a:pPr indent="-342900" lvl="0" marL="457200" rtl="0" algn="l">
              <a:spcBef>
                <a:spcPts val="0"/>
              </a:spcBef>
              <a:spcAft>
                <a:spcPts val="0"/>
              </a:spcAft>
              <a:buSzPts val="1800"/>
              <a:buChar char="●"/>
            </a:pPr>
            <a:r>
              <a:rPr lang="id"/>
              <a:t>Bagian </a:t>
            </a:r>
            <a:r>
              <a:rPr lang="id"/>
              <a:t>else dijalankan jika tidak ada error pada try-except</a:t>
            </a:r>
            <a:endParaRPr/>
          </a:p>
          <a:p>
            <a:pPr indent="-342900" lvl="0" marL="457200" rtl="0" algn="l">
              <a:spcBef>
                <a:spcPts val="0"/>
              </a:spcBef>
              <a:spcAft>
                <a:spcPts val="0"/>
              </a:spcAft>
              <a:buSzPts val="1800"/>
              <a:buChar char="●"/>
            </a:pPr>
            <a:r>
              <a:rPr lang="id"/>
              <a:t>Jika terjadi error, bagian else tidak akan dijalankan</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error.py</a:t>
            </a:r>
            <a:endParaRPr/>
          </a:p>
        </p:txBody>
      </p:sp>
      <p:pic>
        <p:nvPicPr>
          <p:cNvPr id="951" name="Google Shape;951;p161"/>
          <p:cNvPicPr preferRelativeResize="0"/>
          <p:nvPr/>
        </p:nvPicPr>
        <p:blipFill>
          <a:blip r:embed="rId3">
            <a:alphaModFix/>
          </a:blip>
          <a:stretch>
            <a:fillRect/>
          </a:stretch>
        </p:blipFill>
        <p:spPr>
          <a:xfrm>
            <a:off x="152400" y="1170125"/>
            <a:ext cx="8810562" cy="3820974"/>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Try Except Finally</a:t>
            </a:r>
            <a:endParaRPr/>
          </a:p>
        </p:txBody>
      </p:sp>
      <p:sp>
        <p:nvSpPr>
          <p:cNvPr id="957" name="Google Shape;957;p1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else di try-except hanya akan dijalankan ketika tidak ada error</a:t>
            </a:r>
            <a:endParaRPr/>
          </a:p>
          <a:p>
            <a:pPr indent="-342900" lvl="0" marL="457200" rtl="0" algn="l">
              <a:spcBef>
                <a:spcPts val="0"/>
              </a:spcBef>
              <a:spcAft>
                <a:spcPts val="0"/>
              </a:spcAft>
              <a:buSzPts val="1800"/>
              <a:buChar char="●"/>
            </a:pPr>
            <a:r>
              <a:rPr lang="id"/>
              <a:t>Bagaimana jika kita ingin melakukan sesuatu, baik itu jika terjadi error ataupun tidak?</a:t>
            </a:r>
            <a:endParaRPr/>
          </a:p>
          <a:p>
            <a:pPr indent="-342900" lvl="0" marL="457200" rtl="0" algn="l">
              <a:spcBef>
                <a:spcPts val="0"/>
              </a:spcBef>
              <a:spcAft>
                <a:spcPts val="0"/>
              </a:spcAft>
              <a:buSzPts val="1800"/>
              <a:buChar char="●"/>
            </a:pPr>
            <a:r>
              <a:rPr lang="id"/>
              <a:t>Kita bisa menggunakan finally</a:t>
            </a:r>
            <a:endParaRPr/>
          </a:p>
          <a:p>
            <a:pPr indent="-342900" lvl="0" marL="457200" rtl="0" algn="l">
              <a:spcBef>
                <a:spcPts val="0"/>
              </a:spcBef>
              <a:spcAft>
                <a:spcPts val="0"/>
              </a:spcAft>
              <a:buSzPts val="1800"/>
              <a:buChar char="●"/>
            </a:pPr>
            <a:r>
              <a:rPr lang="id"/>
              <a:t>finally selalu dijalankan, baik ada error atau tidak</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error.py</a:t>
            </a:r>
            <a:endParaRPr/>
          </a:p>
        </p:txBody>
      </p:sp>
      <p:pic>
        <p:nvPicPr>
          <p:cNvPr id="963" name="Google Shape;963;p163"/>
          <p:cNvPicPr preferRelativeResize="0"/>
          <p:nvPr/>
        </p:nvPicPr>
        <p:blipFill>
          <a:blip r:embed="rId3">
            <a:alphaModFix/>
          </a:blip>
          <a:stretch>
            <a:fillRect/>
          </a:stretch>
        </p:blipFill>
        <p:spPr>
          <a:xfrm>
            <a:off x="152400" y="1170125"/>
            <a:ext cx="8839200" cy="2632953"/>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64"/>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File Input Output</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Apa itu File I/O (Input/Output)?</a:t>
            </a:r>
            <a:endParaRPr/>
          </a:p>
        </p:txBody>
      </p:sp>
      <p:sp>
        <p:nvSpPr>
          <p:cNvPr id="974" name="Google Shape;974;p1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File I/O (Input/Output) adalah kemampuan program untuk membaca data dari file dan menulis data ke file. </a:t>
            </a:r>
            <a:endParaRPr/>
          </a:p>
          <a:p>
            <a:pPr indent="-342900" lvl="0" marL="457200" rtl="0" algn="l">
              <a:spcBef>
                <a:spcPts val="0"/>
              </a:spcBef>
              <a:spcAft>
                <a:spcPts val="0"/>
              </a:spcAft>
              <a:buSzPts val="1800"/>
              <a:buChar char="●"/>
            </a:pPr>
            <a:r>
              <a:rPr lang="id"/>
              <a:t>Dengan file I/O, kita bisa:</a:t>
            </a:r>
            <a:endParaRPr/>
          </a:p>
          <a:p>
            <a:pPr indent="-342900" lvl="0" marL="457200" rtl="0" algn="l">
              <a:spcBef>
                <a:spcPts val="0"/>
              </a:spcBef>
              <a:spcAft>
                <a:spcPts val="0"/>
              </a:spcAft>
              <a:buSzPts val="1800"/>
              <a:buChar char="●"/>
            </a:pPr>
            <a:r>
              <a:rPr lang="id"/>
              <a:t>Menyimpan data secara permanen</a:t>
            </a:r>
            <a:endParaRPr/>
          </a:p>
          <a:p>
            <a:pPr indent="-342900" lvl="0" marL="457200" rtl="0" algn="l">
              <a:spcBef>
                <a:spcPts val="0"/>
              </a:spcBef>
              <a:spcAft>
                <a:spcPts val="0"/>
              </a:spcAft>
              <a:buSzPts val="1800"/>
              <a:buChar char="●"/>
            </a:pPr>
            <a:r>
              <a:rPr lang="id"/>
              <a:t>Membaca data yang sudah tersimpan</a:t>
            </a:r>
            <a:endParaRPr/>
          </a:p>
          <a:p>
            <a:pPr indent="-342900" lvl="0" marL="457200" rtl="0" algn="l">
              <a:spcBef>
                <a:spcPts val="0"/>
              </a:spcBef>
              <a:spcAft>
                <a:spcPts val="0"/>
              </a:spcAft>
              <a:buSzPts val="1800"/>
              <a:buChar char="●"/>
            </a:pPr>
            <a:r>
              <a:rPr lang="id"/>
              <a:t>Membuat laporan dalam bentuk file</a:t>
            </a:r>
            <a:endParaRPr/>
          </a:p>
          <a:p>
            <a:pPr indent="-342900" lvl="0" marL="457200" rtl="0" algn="l">
              <a:spcBef>
                <a:spcPts val="0"/>
              </a:spcBef>
              <a:spcAft>
                <a:spcPts val="0"/>
              </a:spcAft>
              <a:buSzPts val="1800"/>
              <a:buChar char="●"/>
            </a:pPr>
            <a:r>
              <a:rPr lang="id"/>
              <a:t>Memproses data dari file eksternal</a:t>
            </a:r>
            <a:endParaRPr/>
          </a:p>
          <a:p>
            <a:pPr indent="-342900" lvl="0" marL="457200" rtl="0" algn="l">
              <a:spcBef>
                <a:spcPts val="0"/>
              </a:spcBef>
              <a:spcAft>
                <a:spcPts val="0"/>
              </a:spcAft>
              <a:buSzPts val="1800"/>
              <a:buChar char="●"/>
            </a:pPr>
            <a:r>
              <a:rPr lang="id"/>
              <a:t>Backup dan restore data aplikasi</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Membuka dan Menutup File</a:t>
            </a:r>
            <a:endParaRPr/>
          </a:p>
        </p:txBody>
      </p:sp>
      <p:sp>
        <p:nvSpPr>
          <p:cNvPr id="980" name="Google Shape;980;p1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Untuk membuka file, kita bisa menggunakan function open(file, mode)</a:t>
            </a:r>
            <a:endParaRPr/>
          </a:p>
          <a:p>
            <a:pPr indent="-342900" lvl="0" marL="457200" rtl="0" algn="l">
              <a:spcBef>
                <a:spcPts val="0"/>
              </a:spcBef>
              <a:spcAft>
                <a:spcPts val="0"/>
              </a:spcAft>
              <a:buSzPts val="1800"/>
              <a:buChar char="●"/>
            </a:pPr>
            <a:r>
              <a:rPr lang="id"/>
              <a:t>Setelah selesai membuka file, jangan lupa tutup menggunakan function close() pada variabelnya</a:t>
            </a:r>
            <a:endParaRPr/>
          </a:p>
          <a:p>
            <a:pPr indent="-342900" lvl="0" marL="457200" rtl="0" algn="l">
              <a:spcBef>
                <a:spcPts val="0"/>
              </a:spcBef>
              <a:spcAft>
                <a:spcPts val="0"/>
              </a:spcAft>
              <a:buSzPts val="1800"/>
              <a:buChar char="●"/>
            </a:pPr>
            <a:r>
              <a:rPr lang="id"/>
              <a:t>Saat membuka file, kita harus tentukan mode nya</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Mode File</a:t>
            </a:r>
            <a:endParaRPr/>
          </a:p>
        </p:txBody>
      </p:sp>
      <p:graphicFrame>
        <p:nvGraphicFramePr>
          <p:cNvPr id="986" name="Google Shape;986;p167"/>
          <p:cNvGraphicFramePr/>
          <p:nvPr/>
        </p:nvGraphicFramePr>
        <p:xfrm>
          <a:off x="952500" y="1809750"/>
          <a:ext cx="3000000" cy="3000000"/>
        </p:xfrm>
        <a:graphic>
          <a:graphicData uri="http://schemas.openxmlformats.org/drawingml/2006/table">
            <a:tbl>
              <a:tblPr>
                <a:noFill/>
                <a:tableStyleId>{1DEEECDD-5DF3-4D59-B88E-AD3A7D9961CA}</a:tableStyleId>
              </a:tblPr>
              <a:tblGrid>
                <a:gridCol w="1120000"/>
                <a:gridCol w="2125650"/>
                <a:gridCol w="3993350"/>
              </a:tblGrid>
              <a:tr h="381000">
                <a:tc>
                  <a:txBody>
                    <a:bodyPr/>
                    <a:lstStyle/>
                    <a:p>
                      <a:pPr indent="0" lvl="0" marL="0" rtl="0" algn="l">
                        <a:spcBef>
                          <a:spcPts val="0"/>
                        </a:spcBef>
                        <a:spcAft>
                          <a:spcPts val="0"/>
                        </a:spcAft>
                        <a:buNone/>
                      </a:pPr>
                      <a:r>
                        <a:rPr lang="id">
                          <a:solidFill>
                            <a:srgbClr val="1E1F22"/>
                          </a:solidFill>
                        </a:rPr>
                        <a:t>Mode</a:t>
                      </a:r>
                      <a:endParaRPr>
                        <a:solidFill>
                          <a:srgbClr val="1E1F22"/>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id">
                          <a:solidFill>
                            <a:srgbClr val="1E1F22"/>
                          </a:solidFill>
                        </a:rPr>
                        <a:t>Deskripsi</a:t>
                      </a:r>
                      <a:endParaRPr>
                        <a:solidFill>
                          <a:srgbClr val="1E1F22"/>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id">
                          <a:solidFill>
                            <a:srgbClr val="1E1F22"/>
                          </a:solidFill>
                        </a:rPr>
                        <a:t>Contoh Penggunaan</a:t>
                      </a:r>
                      <a:endParaRPr>
                        <a:solidFill>
                          <a:srgbClr val="1E1F22"/>
                        </a:solidFill>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id">
                          <a:solidFill>
                            <a:schemeClr val="dk1"/>
                          </a:solidFill>
                        </a:rPr>
                        <a:t>r</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Read (baca)</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Membaca file yang sudah ada</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id">
                          <a:solidFill>
                            <a:schemeClr val="dk1"/>
                          </a:solidFill>
                        </a:rPr>
                        <a:t>w</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Write (tulis)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Menulis file baru atau menimpa file lama</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id">
                          <a:solidFill>
                            <a:schemeClr val="dk1"/>
                          </a:solidFill>
                        </a:rPr>
                        <a:t>a</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Append (tambah)</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Menambah data di akhir file</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id">
                          <a:solidFill>
                            <a:schemeClr val="dk1"/>
                          </a:solidFill>
                        </a:rPr>
                        <a:t>x</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Create (buat)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id">
                          <a:solidFill>
                            <a:schemeClr val="dk1"/>
                          </a:solidFill>
                        </a:rPr>
                        <a:t>Membuat file baru, error jika sudah ada</a:t>
                      </a:r>
                      <a:endParaRPr>
                        <a:solidFill>
                          <a:schemeClr val="dk1"/>
                        </a:solidFill>
                      </a:endParaRPr>
                    </a:p>
                  </a:txBody>
                  <a:tcPr marT="91425" marB="91425" marR="91425" marL="91425"/>
                </a:tc>
              </a:tr>
            </a:tbl>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Menulis ke File</a:t>
            </a:r>
            <a:endParaRPr/>
          </a:p>
        </p:txBody>
      </p:sp>
      <p:sp>
        <p:nvSpPr>
          <p:cNvPr id="992" name="Google Shape;992;p1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Untuk menulis ke file, kita bisa gunakan function write(string)</a:t>
            </a:r>
            <a:endParaRPr/>
          </a:p>
          <a:p>
            <a:pPr indent="-342900" lvl="0" marL="457200" rtl="0" algn="l">
              <a:spcBef>
                <a:spcPts val="0"/>
              </a:spcBef>
              <a:spcAft>
                <a:spcPts val="0"/>
              </a:spcAft>
              <a:buSzPts val="1800"/>
              <a:buChar char="●"/>
            </a:pPr>
            <a:r>
              <a:rPr lang="id"/>
              <a:t>Perlu diperhatikan, file yang sudah di close() tidak bisa ditulis lagi</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file.py</a:t>
            </a:r>
            <a:endParaRPr/>
          </a:p>
        </p:txBody>
      </p:sp>
      <p:pic>
        <p:nvPicPr>
          <p:cNvPr id="998" name="Google Shape;998;p169"/>
          <p:cNvPicPr preferRelativeResize="0"/>
          <p:nvPr/>
        </p:nvPicPr>
        <p:blipFill>
          <a:blip r:embed="rId3">
            <a:alphaModFix/>
          </a:blip>
          <a:stretch>
            <a:fillRect/>
          </a:stretch>
        </p:blipFill>
        <p:spPr>
          <a:xfrm>
            <a:off x="152400" y="1170125"/>
            <a:ext cx="6165875" cy="382097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Membaca dari File</a:t>
            </a:r>
            <a:endParaRPr/>
          </a:p>
        </p:txBody>
      </p:sp>
      <p:sp>
        <p:nvSpPr>
          <p:cNvPr id="1004" name="Google Shape;1004;p1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Untuk membaca dari file, kita bisa menggunakan function read(), function ini akan mengembalikan seluruh isi file</a:t>
            </a:r>
            <a:endParaRPr/>
          </a:p>
          <a:p>
            <a:pPr indent="-342900" lvl="0" marL="457200" rtl="0" algn="l">
              <a:spcBef>
                <a:spcPts val="0"/>
              </a:spcBef>
              <a:spcAft>
                <a:spcPts val="0"/>
              </a:spcAft>
              <a:buSzPts val="1800"/>
              <a:buChar char="●"/>
            </a:pPr>
            <a:r>
              <a:rPr lang="id"/>
              <a:t>Namun mungkin kadang kita hanya ingin membaca file per-baris, maka kita bisa menggunakan iterasi for untuk membaca per baris</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file.py</a:t>
            </a:r>
            <a:endParaRPr/>
          </a:p>
        </p:txBody>
      </p:sp>
      <p:pic>
        <p:nvPicPr>
          <p:cNvPr id="1010" name="Google Shape;1010;p171"/>
          <p:cNvPicPr preferRelativeResize="0"/>
          <p:nvPr/>
        </p:nvPicPr>
        <p:blipFill>
          <a:blip r:embed="rId3">
            <a:alphaModFix/>
          </a:blip>
          <a:stretch>
            <a:fillRect/>
          </a:stretch>
        </p:blipFill>
        <p:spPr>
          <a:xfrm>
            <a:off x="152400" y="1170125"/>
            <a:ext cx="8839199" cy="3565055"/>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With Statement (Rekomendasi)</a:t>
            </a:r>
            <a:endParaRPr/>
          </a:p>
        </p:txBody>
      </p:sp>
      <p:sp>
        <p:nvSpPr>
          <p:cNvPr id="1016" name="Google Shape;1016;p1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Saat membaca/menulis file, kita harus berhati-hati karena jika terjadi error, dan kita lupa melakukan close(), maka aplikasi kita bisa terjadi M</a:t>
            </a:r>
            <a:r>
              <a:rPr lang="id"/>
              <a:t>emory Leak</a:t>
            </a:r>
            <a:r>
              <a:rPr lang="id"/>
              <a:t>, yaitu kondisi dimana informasi file masih ada di memori aplikasi, padahal kita sudah tidak menggunakan file tersebut</a:t>
            </a:r>
            <a:endParaRPr/>
          </a:p>
          <a:p>
            <a:pPr indent="-342900" lvl="0" marL="457200" rtl="0" algn="l">
              <a:spcBef>
                <a:spcPts val="0"/>
              </a:spcBef>
              <a:spcAft>
                <a:spcPts val="0"/>
              </a:spcAft>
              <a:buSzPts val="1800"/>
              <a:buChar char="●"/>
            </a:pPr>
            <a:r>
              <a:rPr lang="id"/>
              <a:t>Hal ini sangat berbahaya karena penggunaan memori aplikasi kita akan semakin besar tanpa kita sadari</a:t>
            </a:r>
            <a:endParaRPr/>
          </a:p>
          <a:p>
            <a:pPr indent="-342900" lvl="0" marL="457200" rtl="0" algn="l">
              <a:spcBef>
                <a:spcPts val="0"/>
              </a:spcBef>
              <a:spcAft>
                <a:spcPts val="0"/>
              </a:spcAft>
              <a:buSzPts val="1800"/>
              <a:buChar char="●"/>
            </a:pPr>
            <a:r>
              <a:rPr lang="id"/>
              <a:t>with statement memastikan file otomatis tertutup, bahkan jika terjadi error</a:t>
            </a:r>
            <a:endParaRPr/>
          </a:p>
          <a:p>
            <a:pPr indent="-342900" lvl="0" marL="457200" rtl="0" algn="l">
              <a:spcBef>
                <a:spcPts val="0"/>
              </a:spcBef>
              <a:spcAft>
                <a:spcPts val="0"/>
              </a:spcAft>
              <a:buSzPts val="1800"/>
              <a:buChar char="●"/>
            </a:pPr>
            <a:r>
              <a:rPr lang="id"/>
              <a:t>Dengan menggunakan with statement, kita tidak perlu khawatir kita lupa menutup file menggunakan close()</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1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file.py</a:t>
            </a:r>
            <a:endParaRPr/>
          </a:p>
        </p:txBody>
      </p:sp>
      <p:pic>
        <p:nvPicPr>
          <p:cNvPr id="1022" name="Google Shape;1022;p173"/>
          <p:cNvPicPr preferRelativeResize="0"/>
          <p:nvPr/>
        </p:nvPicPr>
        <p:blipFill>
          <a:blip r:embed="rId3">
            <a:alphaModFix/>
          </a:blip>
          <a:stretch>
            <a:fillRect/>
          </a:stretch>
        </p:blipFill>
        <p:spPr>
          <a:xfrm>
            <a:off x="152400" y="1170125"/>
            <a:ext cx="8839200" cy="2924045"/>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Handling untuk File</a:t>
            </a:r>
            <a:endParaRPr/>
          </a:p>
        </p:txBody>
      </p:sp>
      <p:sp>
        <p:nvSpPr>
          <p:cNvPr id="1028" name="Google Shape;1028;p1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Walaupun selalu menutup file menggunakan with statement, tapi jika terjadi error, maka tetap aplikasi akan terhenti</a:t>
            </a:r>
            <a:endParaRPr/>
          </a:p>
          <a:p>
            <a:pPr indent="-342900" lvl="0" marL="457200" rtl="0" algn="l">
              <a:spcBef>
                <a:spcPts val="0"/>
              </a:spcBef>
              <a:spcAft>
                <a:spcPts val="0"/>
              </a:spcAft>
              <a:buSzPts val="1800"/>
              <a:buChar char="●"/>
            </a:pPr>
            <a:r>
              <a:rPr lang="id"/>
              <a:t>Oleh karena itu, kita tetap perlu menggunakan try-except</a:t>
            </a:r>
            <a:endParaRPr/>
          </a:p>
          <a:p>
            <a:pPr indent="-342900" lvl="0" marL="457200" rtl="0" algn="l">
              <a:spcBef>
                <a:spcPts val="0"/>
              </a:spcBef>
              <a:spcAft>
                <a:spcPts val="0"/>
              </a:spcAft>
              <a:buSzPts val="1800"/>
              <a:buChar char="●"/>
            </a:pPr>
            <a:r>
              <a:rPr lang="id"/>
              <a:t>Misal, bagaimana jika file yang kita baca itu tidak ada, maka akan terjadi error FileNotFoundError misalnya</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file.py</a:t>
            </a:r>
            <a:endParaRPr/>
          </a:p>
        </p:txBody>
      </p:sp>
      <p:pic>
        <p:nvPicPr>
          <p:cNvPr id="1034" name="Google Shape;1034;p175"/>
          <p:cNvPicPr preferRelativeResize="0"/>
          <p:nvPr/>
        </p:nvPicPr>
        <p:blipFill>
          <a:blip r:embed="rId3">
            <a:alphaModFix/>
          </a:blip>
          <a:stretch>
            <a:fillRect/>
          </a:stretch>
        </p:blipFill>
        <p:spPr>
          <a:xfrm>
            <a:off x="152400" y="1170125"/>
            <a:ext cx="8839199" cy="3684124"/>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76"/>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Aplikasi Kalkulator Sederhana</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Kalkulator Sederhana</a:t>
            </a:r>
            <a:endParaRPr/>
          </a:p>
        </p:txBody>
      </p:sp>
      <p:sp>
        <p:nvSpPr>
          <p:cNvPr id="1045" name="Google Shape;1045;p1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Penjumlahan</a:t>
            </a:r>
            <a:endParaRPr/>
          </a:p>
          <a:p>
            <a:pPr indent="-342900" lvl="0" marL="457200" rtl="0" algn="l">
              <a:spcBef>
                <a:spcPts val="0"/>
              </a:spcBef>
              <a:spcAft>
                <a:spcPts val="0"/>
              </a:spcAft>
              <a:buSzPts val="1800"/>
              <a:buChar char="●"/>
            </a:pPr>
            <a:r>
              <a:rPr lang="id"/>
              <a:t>Pengurangan</a:t>
            </a:r>
            <a:endParaRPr/>
          </a:p>
          <a:p>
            <a:pPr indent="-342900" lvl="0" marL="457200" rtl="0" algn="l">
              <a:spcBef>
                <a:spcPts val="0"/>
              </a:spcBef>
              <a:spcAft>
                <a:spcPts val="0"/>
              </a:spcAft>
              <a:buSzPts val="1800"/>
              <a:buChar char="●"/>
            </a:pPr>
            <a:r>
              <a:rPr lang="id"/>
              <a:t>Perkalian</a:t>
            </a:r>
            <a:endParaRPr/>
          </a:p>
          <a:p>
            <a:pPr indent="-342900" lvl="0" marL="457200" rtl="0" algn="l">
              <a:spcBef>
                <a:spcPts val="0"/>
              </a:spcBef>
              <a:spcAft>
                <a:spcPts val="0"/>
              </a:spcAft>
              <a:buSzPts val="1800"/>
              <a:buChar char="●"/>
            </a:pPr>
            <a:r>
              <a:rPr lang="id"/>
              <a:t>Pembagian</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78"/>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Aplikasi Permainan Tebak Angka</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Permainan Tebak Angka</a:t>
            </a:r>
            <a:endParaRPr/>
          </a:p>
        </p:txBody>
      </p:sp>
      <p:sp>
        <p:nvSpPr>
          <p:cNvPr id="1056" name="Google Shape;1056;p1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Buat</a:t>
            </a:r>
            <a:r>
              <a:rPr lang="id"/>
              <a:t> angka random</a:t>
            </a:r>
            <a:endParaRPr/>
          </a:p>
          <a:p>
            <a:pPr indent="-342900" lvl="0" marL="457200" rtl="0" algn="l">
              <a:spcBef>
                <a:spcPts val="0"/>
              </a:spcBef>
              <a:spcAft>
                <a:spcPts val="0"/>
              </a:spcAft>
              <a:buSzPts val="1800"/>
              <a:buChar char="●"/>
            </a:pPr>
            <a:r>
              <a:rPr lang="id"/>
              <a:t>Hint "terlalu besar" atau "terlalu kecil"</a:t>
            </a:r>
            <a:endParaRPr/>
          </a:p>
          <a:p>
            <a:pPr indent="-342900" lvl="0" marL="457200" rtl="0" algn="l">
              <a:spcBef>
                <a:spcPts val="0"/>
              </a:spcBef>
              <a:spcAft>
                <a:spcPts val="0"/>
              </a:spcAft>
              <a:buSzPts val="1800"/>
              <a:buChar char="●"/>
            </a:pPr>
            <a:r>
              <a:rPr lang="id"/>
              <a:t>Hitung jumlah tebakan</a:t>
            </a:r>
            <a:endParaRPr/>
          </a:p>
          <a:p>
            <a:pPr indent="-342900" lvl="0" marL="457200" rtl="0" algn="l">
              <a:spcBef>
                <a:spcPts val="0"/>
              </a:spcBef>
              <a:spcAft>
                <a:spcPts val="0"/>
              </a:spcAft>
              <a:buSzPts val="1800"/>
              <a:buChar char="●"/>
            </a:pPr>
            <a:r>
              <a:rPr lang="id"/>
              <a:t>Ada maksimal tebakan</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80"/>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Aplikasi Ujian Sekolah</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Aplikasi Ujian Sekolah</a:t>
            </a:r>
            <a:endParaRPr/>
          </a:p>
        </p:txBody>
      </p:sp>
      <p:sp>
        <p:nvSpPr>
          <p:cNvPr id="1067" name="Google Shape;1067;p1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d"/>
              <a:t>Membaca soal dari File</a:t>
            </a:r>
            <a:endParaRPr/>
          </a:p>
          <a:p>
            <a:pPr indent="-342900" lvl="0" marL="457200" rtl="0" algn="l">
              <a:spcBef>
                <a:spcPts val="0"/>
              </a:spcBef>
              <a:spcAft>
                <a:spcPts val="0"/>
              </a:spcAft>
              <a:buSzPts val="1800"/>
              <a:buChar char="●"/>
            </a:pPr>
            <a:r>
              <a:rPr lang="id"/>
              <a:t>Mengacak soal ujian</a:t>
            </a:r>
            <a:endParaRPr/>
          </a:p>
          <a:p>
            <a:pPr indent="-342900" lvl="0" marL="457200" rtl="0" algn="l">
              <a:spcBef>
                <a:spcPts val="0"/>
              </a:spcBef>
              <a:spcAft>
                <a:spcPts val="0"/>
              </a:spcAft>
              <a:buSzPts val="1800"/>
              <a:buChar char="●"/>
            </a:pPr>
            <a:r>
              <a:rPr lang="id"/>
              <a:t>Mengacak posisi jawaban soal</a:t>
            </a:r>
            <a:endParaRPr/>
          </a:p>
          <a:p>
            <a:pPr indent="-342900" lvl="0" marL="457200" rtl="0" algn="l">
              <a:spcBef>
                <a:spcPts val="0"/>
              </a:spcBef>
              <a:spcAft>
                <a:spcPts val="0"/>
              </a:spcAft>
              <a:buSzPts val="1800"/>
              <a:buChar char="●"/>
            </a:pPr>
            <a:r>
              <a:rPr lang="id"/>
              <a:t>Hasil score murid</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82"/>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d"/>
              <a:t>Penutup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